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29a3c4a11e48f5" /><Relationship Type="http://schemas.openxmlformats.org/officeDocument/2006/relationships/extended-properties" Target="/docProps/app.xml" Id="Rb735907d257345f2" /><Relationship Type="http://schemas.openxmlformats.org/officeDocument/2006/relationships/officeDocument" Target="/ppt/presentation.xml" Id="Rf754a632dc95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c0e195cfc649eb"/>
  </p:sldMasterIdLst>
  <p:notesMasterIdLst>
    <p:notesMasterId xmlns:r="http://schemas.openxmlformats.org/officeDocument/2006/relationships" r:id="R5e004bc5b8ab453e"/>
  </p:notesMasterIdLst>
  <p:sldIdLst>
    <p:sldId xmlns:r="http://schemas.openxmlformats.org/officeDocument/2006/relationships" id="256" r:id="R58b68e3794864f93"/>
    <p:sldId xmlns:r="http://schemas.openxmlformats.org/officeDocument/2006/relationships" id="257" r:id="R24945732b1b8403f"/>
    <p:sldId xmlns:r="http://schemas.openxmlformats.org/officeDocument/2006/relationships" id="258" r:id="R779a640526854b13"/>
    <p:sldId xmlns:r="http://schemas.openxmlformats.org/officeDocument/2006/relationships" id="259" r:id="Rd72fb432d7054bf5"/>
    <p:sldId xmlns:r="http://schemas.openxmlformats.org/officeDocument/2006/relationships" id="260" r:id="Rbca9c809815f472f"/>
    <p:sldId xmlns:r="http://schemas.openxmlformats.org/officeDocument/2006/relationships" id="261" r:id="R3a072254da444873"/>
    <p:sldId xmlns:r="http://schemas.openxmlformats.org/officeDocument/2006/relationships" id="262" r:id="R28f348ffe02c4386"/>
    <p:sldId xmlns:r="http://schemas.openxmlformats.org/officeDocument/2006/relationships" id="263" r:id="R66c2be34f4ba4fdd"/>
    <p:sldId xmlns:r="http://schemas.openxmlformats.org/officeDocument/2006/relationships" id="264" r:id="R6825293a8168499d"/>
    <p:sldId xmlns:r="http://schemas.openxmlformats.org/officeDocument/2006/relationships" id="265" r:id="R20e42b62fc974706"/>
    <p:sldId xmlns:r="http://schemas.openxmlformats.org/officeDocument/2006/relationships" id="266" r:id="R47673a8f572243c4"/>
    <p:sldId xmlns:r="http://schemas.openxmlformats.org/officeDocument/2006/relationships" id="267" r:id="R8659eec777a545a3"/>
    <p:sldId xmlns:r="http://schemas.openxmlformats.org/officeDocument/2006/relationships" id="268" r:id="R8293b23663134946"/>
    <p:sldId xmlns:r="http://schemas.openxmlformats.org/officeDocument/2006/relationships" id="269" r:id="R91daef414574428a"/>
    <p:sldId xmlns:r="http://schemas.openxmlformats.org/officeDocument/2006/relationships" id="270" r:id="R0557e48a2a87488a"/>
    <p:sldId xmlns:r="http://schemas.openxmlformats.org/officeDocument/2006/relationships" id="271" r:id="R67dcdc7be19f455e"/>
    <p:sldId xmlns:r="http://schemas.openxmlformats.org/officeDocument/2006/relationships" id="272" r:id="Re5db37b7648f4b4d"/>
    <p:sldId xmlns:r="http://schemas.openxmlformats.org/officeDocument/2006/relationships" id="273" r:id="R4533a87014834a71"/>
    <p:sldId xmlns:r="http://schemas.openxmlformats.org/officeDocument/2006/relationships" id="274" r:id="Rfca4ee5028b54ac7"/>
    <p:sldId xmlns:r="http://schemas.openxmlformats.org/officeDocument/2006/relationships" id="275" r:id="Racb53910019e46e2"/>
    <p:sldId xmlns:r="http://schemas.openxmlformats.org/officeDocument/2006/relationships" id="276" r:id="R407b07731f084826"/>
    <p:sldId xmlns:r="http://schemas.openxmlformats.org/officeDocument/2006/relationships" id="277" r:id="Rea3f5d06975743f7"/>
    <p:sldId xmlns:r="http://schemas.openxmlformats.org/officeDocument/2006/relationships" id="278" r:id="R7d3b7fccec4349ec"/>
    <p:sldId xmlns:r="http://schemas.openxmlformats.org/officeDocument/2006/relationships" id="279" r:id="R6d49bc8908bf4707"/>
    <p:sldId xmlns:r="http://schemas.openxmlformats.org/officeDocument/2006/relationships" id="280" r:id="R2fc731ec8f484882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6f509e6e194899" /><Relationship Type="http://schemas.openxmlformats.org/officeDocument/2006/relationships/slideMaster" Target="/ppt/slideMasters/slideMaster1.xml" Id="Rbbc0e195cfc649eb" /><Relationship Type="http://schemas.openxmlformats.org/officeDocument/2006/relationships/notesMaster" Target="/ppt/notesMasters/notesMaster1.xml" Id="R5e004bc5b8ab453e" /><Relationship Type="http://schemas.openxmlformats.org/officeDocument/2006/relationships/presProps" Target="/ppt/presProps.xml" Id="R4306f825487946b9" /><Relationship Type="http://schemas.openxmlformats.org/officeDocument/2006/relationships/viewProps" Target="/ppt/viewProps.xml" Id="R5c43cdfa99ca4b1c" /><Relationship Type="http://schemas.openxmlformats.org/officeDocument/2006/relationships/tableStyles" Target="/ppt/tableStyles.xml" Id="Rd6d7160491054f15" /><Relationship Type="http://schemas.openxmlformats.org/officeDocument/2006/relationships/slide" Target="/ppt/slides/slide1.xml" Id="R58b68e3794864f93" /><Relationship Type="http://schemas.openxmlformats.org/officeDocument/2006/relationships/slide" Target="/ppt/slides/slide2.xml" Id="R24945732b1b8403f" /><Relationship Type="http://schemas.openxmlformats.org/officeDocument/2006/relationships/slide" Target="/ppt/slides/slide3.xml" Id="R779a640526854b13" /><Relationship Type="http://schemas.openxmlformats.org/officeDocument/2006/relationships/slide" Target="/ppt/slides/slide4.xml" Id="Rd72fb432d7054bf5" /><Relationship Type="http://schemas.openxmlformats.org/officeDocument/2006/relationships/slide" Target="/ppt/slides/slide5.xml" Id="Rbca9c809815f472f" /><Relationship Type="http://schemas.openxmlformats.org/officeDocument/2006/relationships/slide" Target="/ppt/slides/slide6.xml" Id="R3a072254da444873" /><Relationship Type="http://schemas.openxmlformats.org/officeDocument/2006/relationships/slide" Target="/ppt/slides/slide7.xml" Id="R28f348ffe02c4386" /><Relationship Type="http://schemas.openxmlformats.org/officeDocument/2006/relationships/slide" Target="/ppt/slides/slide8.xml" Id="R66c2be34f4ba4fdd" /><Relationship Type="http://schemas.openxmlformats.org/officeDocument/2006/relationships/slide" Target="/ppt/slides/slide9.xml" Id="R6825293a8168499d" /><Relationship Type="http://schemas.openxmlformats.org/officeDocument/2006/relationships/slide" Target="/ppt/slides/slide10.xml" Id="R20e42b62fc974706" /><Relationship Type="http://schemas.openxmlformats.org/officeDocument/2006/relationships/slide" Target="/ppt/slides/slide11.xml" Id="R47673a8f572243c4" /><Relationship Type="http://schemas.openxmlformats.org/officeDocument/2006/relationships/slide" Target="/ppt/slides/slide12.xml" Id="R8659eec777a545a3" /><Relationship Type="http://schemas.openxmlformats.org/officeDocument/2006/relationships/slide" Target="/ppt/slides/slide13.xml" Id="R8293b23663134946" /><Relationship Type="http://schemas.openxmlformats.org/officeDocument/2006/relationships/slide" Target="/ppt/slides/slide14.xml" Id="R91daef414574428a" /><Relationship Type="http://schemas.openxmlformats.org/officeDocument/2006/relationships/slide" Target="/ppt/slides/slide15.xml" Id="R0557e48a2a87488a" /><Relationship Type="http://schemas.openxmlformats.org/officeDocument/2006/relationships/slide" Target="/ppt/slides/slide16.xml" Id="R67dcdc7be19f455e" /><Relationship Type="http://schemas.openxmlformats.org/officeDocument/2006/relationships/slide" Target="/ppt/slides/slide17.xml" Id="Re5db37b7648f4b4d" /><Relationship Type="http://schemas.openxmlformats.org/officeDocument/2006/relationships/slide" Target="/ppt/slides/slide18.xml" Id="R4533a87014834a71" /><Relationship Type="http://schemas.openxmlformats.org/officeDocument/2006/relationships/slide" Target="/ppt/slides/slide19.xml" Id="Rfca4ee5028b54ac7" /><Relationship Type="http://schemas.openxmlformats.org/officeDocument/2006/relationships/slide" Target="/ppt/slides/slide20.xml" Id="Racb53910019e46e2" /><Relationship Type="http://schemas.openxmlformats.org/officeDocument/2006/relationships/slide" Target="/ppt/slides/slide21.xml" Id="R407b07731f084826" /><Relationship Type="http://schemas.openxmlformats.org/officeDocument/2006/relationships/slide" Target="/ppt/slides/slide22.xml" Id="Rea3f5d06975743f7" /><Relationship Type="http://schemas.openxmlformats.org/officeDocument/2006/relationships/slide" Target="/ppt/slides/slide23.xml" Id="R7d3b7fccec4349ec" /><Relationship Type="http://schemas.openxmlformats.org/officeDocument/2006/relationships/slide" Target="/ppt/slides/slide24.xml" Id="R6d49bc8908bf4707" /><Relationship Type="http://schemas.openxmlformats.org/officeDocument/2006/relationships/slide" Target="/ppt/slides/slide25.xml" Id="R2fc731ec8f4848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532624ef3c43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da8bcb14844d35" /><Relationship Type="http://schemas.openxmlformats.org/officeDocument/2006/relationships/notesMaster" Target="/ppt/notesMasters/notesMaster1.xml" Id="Re6646d6b6c1e43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a6a74439564f03" /><Relationship Type="http://schemas.openxmlformats.org/officeDocument/2006/relationships/notesMaster" Target="/ppt/notesMasters/notesMaster1.xml" Id="Rfad82ce9c1b746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248db105f94e76" /><Relationship Type="http://schemas.openxmlformats.org/officeDocument/2006/relationships/notesMaster" Target="/ppt/notesMasters/notesMaster1.xml" Id="R7e7005631b8949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33ec48ae024e99" /><Relationship Type="http://schemas.openxmlformats.org/officeDocument/2006/relationships/notesMaster" Target="/ppt/notesMasters/notesMaster1.xml" Id="R84ca426488f94c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15cba7eaff4d48" /><Relationship Type="http://schemas.openxmlformats.org/officeDocument/2006/relationships/notesMaster" Target="/ppt/notesMasters/notesMaster1.xml" Id="R28d6ae1428ee47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3ce889d092474d" /><Relationship Type="http://schemas.openxmlformats.org/officeDocument/2006/relationships/notesMaster" Target="/ppt/notesMasters/notesMaster1.xml" Id="R1e57ba69c5e842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07f8ec18f54d55" /><Relationship Type="http://schemas.openxmlformats.org/officeDocument/2006/relationships/notesMaster" Target="/ppt/notesMasters/notesMaster1.xml" Id="R7f256a2c0d9f41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fcf8a2aa7a4e36" /><Relationship Type="http://schemas.openxmlformats.org/officeDocument/2006/relationships/notesMaster" Target="/ppt/notesMasters/notesMaster1.xml" Id="R961fd952211f4a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ac13b18ca84b0a" /><Relationship Type="http://schemas.openxmlformats.org/officeDocument/2006/relationships/notesMaster" Target="/ppt/notesMasters/notesMaster1.xml" Id="R1f5ff72626f840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53125663c74265" /><Relationship Type="http://schemas.openxmlformats.org/officeDocument/2006/relationships/notesMaster" Target="/ppt/notesMasters/notesMaster1.xml" Id="Rc04131ced2014b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d8e54102a74e68" /><Relationship Type="http://schemas.openxmlformats.org/officeDocument/2006/relationships/notesMaster" Target="/ppt/notesMasters/notesMaster1.xml" Id="Rae9d69662f1041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3dca8866c34e08" /><Relationship Type="http://schemas.openxmlformats.org/officeDocument/2006/relationships/notesMaster" Target="/ppt/notesMasters/notesMaster1.xml" Id="Rb1df78344bbf4b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5bf5739a524b42" /><Relationship Type="http://schemas.openxmlformats.org/officeDocument/2006/relationships/notesMaster" Target="/ppt/notesMasters/notesMaster1.xml" Id="Rfadb56ed6e7148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3e753e20344d59" /><Relationship Type="http://schemas.openxmlformats.org/officeDocument/2006/relationships/notesMaster" Target="/ppt/notesMasters/notesMaster1.xml" Id="R3b39ac43242a45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c2cd812db649f0" /><Relationship Type="http://schemas.openxmlformats.org/officeDocument/2006/relationships/notesMaster" Target="/ppt/notesMasters/notesMaster1.xml" Id="Rce50fdeac20645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e36cefa60148e6" /><Relationship Type="http://schemas.openxmlformats.org/officeDocument/2006/relationships/notesMaster" Target="/ppt/notesMasters/notesMaster1.xml" Id="R4082bc26d40949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538ed0dcde4929" /><Relationship Type="http://schemas.openxmlformats.org/officeDocument/2006/relationships/notesMaster" Target="/ppt/notesMasters/notesMaster1.xml" Id="R51bf7143f79e4b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20f1b7feb44a18" /><Relationship Type="http://schemas.openxmlformats.org/officeDocument/2006/relationships/notesMaster" Target="/ppt/notesMasters/notesMaster1.xml" Id="Ra1b0a497e5b94e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c0836a1afa45e3" /><Relationship Type="http://schemas.openxmlformats.org/officeDocument/2006/relationships/notesMaster" Target="/ppt/notesMasters/notesMaster1.xml" Id="Rf2e0a01b53cc4d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4e6e65f9714b87" /><Relationship Type="http://schemas.openxmlformats.org/officeDocument/2006/relationships/notesMaster" Target="/ppt/notesMasters/notesMaster1.xml" Id="R21698b37929a42f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83a04c27e394356" /><Relationship Type="http://schemas.openxmlformats.org/officeDocument/2006/relationships/notesMaster" Target="/ppt/notesMasters/notesMaster1.xml" Id="Rfdbb0ed94bbe41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0fbd45c96c0480d" /><Relationship Type="http://schemas.openxmlformats.org/officeDocument/2006/relationships/notesMaster" Target="/ppt/notesMasters/notesMaster1.xml" Id="R7c63d2f67b5f478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a29823d86264785" /><Relationship Type="http://schemas.openxmlformats.org/officeDocument/2006/relationships/notesMaster" Target="/ppt/notesMasters/notesMaster1.xml" Id="R890b7e6826fe4a9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53f8df9b2943d5" /><Relationship Type="http://schemas.openxmlformats.org/officeDocument/2006/relationships/notesMaster" Target="/ppt/notesMasters/notesMaster1.xml" Id="Reb77659af55344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3b8e3640b7d4c3b" /><Relationship Type="http://schemas.openxmlformats.org/officeDocument/2006/relationships/notesMaster" Target="/ppt/notesMasters/notesMaster1.xml" Id="R6c0ab5b9698a4d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Apresente o problema: transformar inspeção visual subjetiva em um processo computacional rastreável.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Antecipe a sequência: do desafio clínico-operacional ao resultado e às limitações.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Faça a transição do cenário da ultrassonografia para a pergunta que o pipeline responde.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Destaque que a proposta não diagnostica doença: ela organiza e restringe a análise à anatomia renal.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Destaque que a proposta não diagnostica doença: ela organiza e restringe a análise à anatomia renal.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Destaque que a proposta não diagnostica doença: ela organiza e restringe a análise à anatomia renal.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Introduza a cascata: cápsula, consenso entre modelos e estruturas intrarrenais.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que cada etapa reduz a região de interesse e torna a seguinte mais específica.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que cada etapa reduz a região de interesse e torna a seguinte mais específica.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que cada etapa reduz a região de interesse e torna a seguinte mais específica.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Introduza a cascata: cápsula, consenso entre modelos e estruturas intrarrenais.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por que o conjunto externo não entra nas métricas: ele não possui anotação manual no estudo.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por que o conjunto externo não entra nas métricas: ele não possui anotação manual no estudo.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por que o conjunto externo não entra nas métricas: ele não possui anotação manual no estudo.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Introduza a cascata: cápsula, consenso entre modelos e estruturas intrarrenais.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Informe que a escolha da U-Net privilegia a sobreposição com a anotação manual; velocidade não foi o único critério.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Informe que a escolha da U-Net privilegia a sobreposição com a anotação manual; velocidade não foi o único critério.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Introduza a cascata: cápsula, consenso entre modelos e estruturas intrarrenais.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Reforce a distinção: concordância entre arquiteturas prioriza trabalho humano, mas não comprova acerto sem referência manual.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Reforce a distinção: concordância entre arquiteturas prioriza trabalho humano, mas não comprova acerto sem referência manual.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Aponte a leitura correta da figura: medula segue a anotação do kidneyUS, não são pirâmides individuais segmentadas.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este slide para explicitar o limite de generalização do conjunto externo.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Introduza a cascata: cápsula, consenso entre modelos e estruturas intrarrenais.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Retome a tese: o valor do trabalho é a cadeia auditável de dados, segmentação e priorização, não um diagnóstico automatizado.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Abra para perguntas.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c30fd22e24d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056ed988244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37d7410c249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12431f7984b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bce491b9d4d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22dc17a5a482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1e1e0fa604fb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ecabb80cc4a3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c7e2c8f11451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acafca7cb4df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1df33a249455c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52BFD4A4-2DB6-4B10-8E6A-BFD1292D767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7768016B-9F62-4562-9BE2-090D1A4382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0332B700-EEBB-46DE-9A5D-AB69F6C715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084108E0-C07D-41DB-A9BA-7342DB340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>
            <a:endParaRPr/>
          </a:p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CEB08C3A-B145-400F-8E83-D04B930983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56C99AA1-2818-40EA-92F6-A0B0E35F3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7AC6CCC7-C0C0-488B-8274-F7E6D501B4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CC6C0057-2AF1-4C5F-8FFE-E5368850AA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61FA608F-A5E6-4DFE-AA05-D5CF9084DD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A8BC3CE8-BA4C-4D9C-96D8-2E0895C61F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4AB86436-30AC-4FB8-9207-6E6A4E4174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2B00B62C-41F9-4A02-90A9-DD881E3F37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2CAD5955-19CA-4035-ACC7-DA2831917B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7ED57FE0-7E21-4386-B208-9D8E6CC622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66454D36-14B8-44B8-98BC-0F0FCF293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B994B8F2-8095-473C-AF34-B453FFB1A8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084A036E-8FC6-4A2C-A7BE-0C5A7DD21F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42C04800-9E0A-4A4C-8EA6-92921E4D9C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0D71EA49-CF20-4F7D-ADBF-FA5850E9C6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440FF8AD-05C1-401E-A8DA-AEFF7F6B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29670328-F05B-4546-A740-CB38D28B1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87806357-5B9F-4BCD-8ACE-4590EBBE06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822D4F9D-B3A3-43DA-927B-8F8F562A10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1BB1375D-9031-40EC-81A3-3065CE511A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153DF024-0464-4EE4-9CA0-E79225A7AC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6DDD3437-A1D0-43A9-8958-CAC1D80EA1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B7E1FC33-B9E0-45E1-BF40-7449D8F59A5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5E0579CE-85C3-4102-9876-EA3A7BC456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12F6F2A5-4D9E-4918-B872-7D94A46718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BA82413B-F9EC-4960-852F-0E3FEC22F0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4ddbac6ae64796" /><Relationship Type="http://schemas.openxmlformats.org/officeDocument/2006/relationships/slideLayout" Target="/ppt/slideLayouts/slideLayout1.xml" Id="R45f2853a72514fc6" /><Relationship Type="http://schemas.openxmlformats.org/officeDocument/2006/relationships/slideLayout" Target="/ppt/slideLayouts/slideLayout2.xml" Id="R34aa72ca18ee4603" /><Relationship Type="http://schemas.openxmlformats.org/officeDocument/2006/relationships/slideLayout" Target="/ppt/slideLayouts/slideLayout3.xml" Id="R8a60ff4309aa4852" /><Relationship Type="http://schemas.openxmlformats.org/officeDocument/2006/relationships/slideLayout" Target="/ppt/slideLayouts/slideLayout4.xml" Id="R825bcb6ff6204c21" /><Relationship Type="http://schemas.openxmlformats.org/officeDocument/2006/relationships/slideLayout" Target="/ppt/slideLayouts/slideLayout5.xml" Id="Rf642e5c41c5b4590" /><Relationship Type="http://schemas.openxmlformats.org/officeDocument/2006/relationships/slideLayout" Target="/ppt/slideLayouts/slideLayout6.xml" Id="R6373e9496578433c" /><Relationship Type="http://schemas.openxmlformats.org/officeDocument/2006/relationships/slideLayout" Target="/ppt/slideLayouts/slideLayout7.xml" Id="R51dbad8ad8d94e3a" /><Relationship Type="http://schemas.openxmlformats.org/officeDocument/2006/relationships/slideLayout" Target="/ppt/slideLayouts/slideLayout8.xml" Id="R741af667104e4478" /><Relationship Type="http://schemas.openxmlformats.org/officeDocument/2006/relationships/slideLayout" Target="/ppt/slideLayouts/slideLayout9.xml" Id="R73937c7640784649" /><Relationship Type="http://schemas.openxmlformats.org/officeDocument/2006/relationships/slideLayout" Target="/ppt/slideLayouts/slideLayout10.xml" Id="R162037bb1e6c488e" /><Relationship Type="http://schemas.openxmlformats.org/officeDocument/2006/relationships/slideLayout" Target="/ppt/slideLayouts/slideLayout11.xml" Id="Rf28a1a75ff5b4eda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C2B05301-3FE5-4FB1-915F-23AE0151EA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0255C05F-3A75-479E-A6EB-0144C588F9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40B65BE9-403D-4FE9-AEB5-E0A38005CC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f2853a72514fc6"/>
    <p:sldLayoutId xmlns:r="http://schemas.openxmlformats.org/officeDocument/2006/relationships" id="2147483650" r:id="R34aa72ca18ee4603"/>
    <p:sldLayoutId xmlns:r="http://schemas.openxmlformats.org/officeDocument/2006/relationships" id="2147483651" r:id="R8a60ff4309aa4852"/>
    <p:sldLayoutId xmlns:r="http://schemas.openxmlformats.org/officeDocument/2006/relationships" id="2147483652" r:id="R825bcb6ff6204c21"/>
    <p:sldLayoutId xmlns:r="http://schemas.openxmlformats.org/officeDocument/2006/relationships" id="2147483653" r:id="Rf642e5c41c5b4590"/>
    <p:sldLayoutId xmlns:r="http://schemas.openxmlformats.org/officeDocument/2006/relationships" id="2147483654" r:id="R6373e9496578433c"/>
    <p:sldLayoutId xmlns:r="http://schemas.openxmlformats.org/officeDocument/2006/relationships" id="2147483655" r:id="R51dbad8ad8d94e3a"/>
    <p:sldLayoutId xmlns:r="http://schemas.openxmlformats.org/officeDocument/2006/relationships" id="2147483656" r:id="R741af667104e4478"/>
    <p:sldLayoutId xmlns:r="http://schemas.openxmlformats.org/officeDocument/2006/relationships" id="2147483657" r:id="R73937c7640784649"/>
    <p:sldLayoutId xmlns:r="http://schemas.openxmlformats.org/officeDocument/2006/relationships" id="2147483658" r:id="R162037bb1e6c488e"/>
    <p:sldLayoutId xmlns:r="http://schemas.openxmlformats.org/officeDocument/2006/relationships" id="2147483659" r:id="Rf28a1a75ff5b4eda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dd07a2f306e45a6" /><Relationship Type="http://schemas.openxmlformats.org/officeDocument/2006/relationships/image" Target="/ppt/media/image.png" Id="R0f66435a1e5d4fa9" /><Relationship Type="http://schemas.openxmlformats.org/officeDocument/2006/relationships/notesSlide" Target="/ppt/notesSlides/notesSlide1.xml" Id="R8d576aff59aa4f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37d6b42a664ea5" /><Relationship Type="http://schemas.openxmlformats.org/officeDocument/2006/relationships/image" Target="/ppt/media/image.png" Id="Rfd43325287264aed" /><Relationship Type="http://schemas.openxmlformats.org/officeDocument/2006/relationships/notesSlide" Target="/ppt/notesSlides/notesSlide2.xml" Id="R681f7c5542dc4c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597be2d6c44aae" /><Relationship Type="http://schemas.openxmlformats.org/officeDocument/2006/relationships/image" Target="/ppt/media/image.png" Id="Rada09c5228a64054" /><Relationship Type="http://schemas.openxmlformats.org/officeDocument/2006/relationships/notesSlide" Target="/ppt/notesSlides/notesSlide3.xml" Id="R36afdeebe85643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007f0c3c2548f0" /><Relationship Type="http://schemas.openxmlformats.org/officeDocument/2006/relationships/image" Target="/ppt/media/image.png" Id="R699e7001e21147ab" /><Relationship Type="http://schemas.openxmlformats.org/officeDocument/2006/relationships/image" Target="/ppt/media/image2.png" Id="R79cb6270cbef4b1a" /><Relationship Type="http://schemas.openxmlformats.org/officeDocument/2006/relationships/notesSlide" Target="/ppt/notesSlides/notesSlide4.xml" Id="R3146a57a9aa440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b3142ac94649e8" /><Relationship Type="http://schemas.openxmlformats.org/officeDocument/2006/relationships/image" Target="/ppt/media/image.png" Id="Rade6e22b7c734f14" /><Relationship Type="http://schemas.openxmlformats.org/officeDocument/2006/relationships/image" Target="/ppt/media/image2.png" Id="Rf4203be44ab94155" /><Relationship Type="http://schemas.openxmlformats.org/officeDocument/2006/relationships/notesSlide" Target="/ppt/notesSlides/notesSlide5.xml" Id="R988f023a6a0f4e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65f01e39604b61" /><Relationship Type="http://schemas.openxmlformats.org/officeDocument/2006/relationships/image" Target="/ppt/media/image.png" Id="R9241cb90836f4a00" /><Relationship Type="http://schemas.openxmlformats.org/officeDocument/2006/relationships/image" Target="/ppt/media/image2.png" Id="Re205bce5aa754396" /><Relationship Type="http://schemas.openxmlformats.org/officeDocument/2006/relationships/notesSlide" Target="/ppt/notesSlides/notesSlide6.xml" Id="R0dc4332e43d34c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ebf4e2a463c46cb" /><Relationship Type="http://schemas.openxmlformats.org/officeDocument/2006/relationships/image" Target="/ppt/media/image.png" Id="R1f17830a49094b9e" /><Relationship Type="http://schemas.openxmlformats.org/officeDocument/2006/relationships/notesSlide" Target="/ppt/notesSlides/notesSlide7.xml" Id="Ree61d326f8d44d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9a0e3db671d4832" /><Relationship Type="http://schemas.openxmlformats.org/officeDocument/2006/relationships/image" Target="/ppt/media/image.png" Id="R31415b69ac584b0e" /><Relationship Type="http://schemas.openxmlformats.org/officeDocument/2006/relationships/image" Target="/ppt/media/image3.png" Id="Rf1e8129524394b0d" /><Relationship Type="http://schemas.openxmlformats.org/officeDocument/2006/relationships/notesSlide" Target="/ppt/notesSlides/notesSlide8.xml" Id="R57428aca4a3648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ed866fc81d341c5" /><Relationship Type="http://schemas.openxmlformats.org/officeDocument/2006/relationships/image" Target="/ppt/media/image.png" Id="Rb651e0af325c45ef" /><Relationship Type="http://schemas.openxmlformats.org/officeDocument/2006/relationships/image" Target="/ppt/media/image4.png" Id="Rb8054452c160400e" /><Relationship Type="http://schemas.openxmlformats.org/officeDocument/2006/relationships/notesSlide" Target="/ppt/notesSlides/notesSlide9.xml" Id="R0d9eb58b25fd40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7712c8eba054f92" /><Relationship Type="http://schemas.openxmlformats.org/officeDocument/2006/relationships/image" Target="/ppt/media/image.png" Id="R2dba2e3376724ea6" /><Relationship Type="http://schemas.openxmlformats.org/officeDocument/2006/relationships/image" Target="/ppt/media/image5.png" Id="R58fdb1f006494e9c" /><Relationship Type="http://schemas.openxmlformats.org/officeDocument/2006/relationships/notesSlide" Target="/ppt/notesSlides/notesSlide10.xml" Id="R4b2896ae2f9942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91a8e7f04541a0" /><Relationship Type="http://schemas.openxmlformats.org/officeDocument/2006/relationships/image" Target="/ppt/media/image.png" Id="Rfb72a8732d934da6" /><Relationship Type="http://schemas.openxmlformats.org/officeDocument/2006/relationships/notesSlide" Target="/ppt/notesSlides/notesSlide11.xml" Id="R02961de1a94945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5ee40a483e436b" /><Relationship Type="http://schemas.openxmlformats.org/officeDocument/2006/relationships/image" Target="/ppt/media/image.png" Id="Rcb00a5e757b24ea6" /><Relationship Type="http://schemas.openxmlformats.org/officeDocument/2006/relationships/image" Target="/ppt/media/image6.png" Id="R89890ef535994dc5" /><Relationship Type="http://schemas.openxmlformats.org/officeDocument/2006/relationships/notesSlide" Target="/ppt/notesSlides/notesSlide12.xml" Id="R93cbddf132374d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39454f5a674181" /><Relationship Type="http://schemas.openxmlformats.org/officeDocument/2006/relationships/image" Target="/ppt/media/image.png" Id="R8202b317eb14466c" /><Relationship Type="http://schemas.openxmlformats.org/officeDocument/2006/relationships/image" Target="/ppt/media/image6.png" Id="R4d8e7c82aa474e11" /><Relationship Type="http://schemas.openxmlformats.org/officeDocument/2006/relationships/notesSlide" Target="/ppt/notesSlides/notesSlide13.xml" Id="R7d3bd0da895d43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866ed0358f491a" /><Relationship Type="http://schemas.openxmlformats.org/officeDocument/2006/relationships/image" Target="/ppt/media/image.png" Id="R0ddd6aaf998a4636" /><Relationship Type="http://schemas.openxmlformats.org/officeDocument/2006/relationships/image" Target="/ppt/media/image6.png" Id="R8e94f44f815d42d7" /><Relationship Type="http://schemas.openxmlformats.org/officeDocument/2006/relationships/notesSlide" Target="/ppt/notesSlides/notesSlide14.xml" Id="R8cbaf41afbd845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91eace605742a9" /><Relationship Type="http://schemas.openxmlformats.org/officeDocument/2006/relationships/image" Target="/ppt/media/image.png" Id="R3c561a5e28644f3b" /><Relationship Type="http://schemas.openxmlformats.org/officeDocument/2006/relationships/notesSlide" Target="/ppt/notesSlides/notesSlide15.xml" Id="R449defd627484e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0dc3cef1054b88" /><Relationship Type="http://schemas.openxmlformats.org/officeDocument/2006/relationships/image" Target="/ppt/media/image.png" Id="R96eff930879c4d46" /><Relationship Type="http://schemas.openxmlformats.org/officeDocument/2006/relationships/image" Target="/ppt/media/image2.png" Id="R2bd680a08add4961" /><Relationship Type="http://schemas.openxmlformats.org/officeDocument/2006/relationships/notesSlide" Target="/ppt/notesSlides/notesSlide16.xml" Id="Rf5cd0d1c767f47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d0c12dfe9b424c" /><Relationship Type="http://schemas.openxmlformats.org/officeDocument/2006/relationships/image" Target="/ppt/media/image.png" Id="Rc149b7cdc9e54772" /><Relationship Type="http://schemas.openxmlformats.org/officeDocument/2006/relationships/image" Target="/ppt/media/image7.png" Id="R0b075038834a4d63" /><Relationship Type="http://schemas.openxmlformats.org/officeDocument/2006/relationships/notesSlide" Target="/ppt/notesSlides/notesSlide17.xml" Id="R114f06a0f85d44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6ed0a3be454a90" /><Relationship Type="http://schemas.openxmlformats.org/officeDocument/2006/relationships/image" Target="/ppt/media/image.png" Id="Rf19d32992a37461f" /><Relationship Type="http://schemas.openxmlformats.org/officeDocument/2006/relationships/notesSlide" Target="/ppt/notesSlides/notesSlide18.xml" Id="Rc24f7a16770b4f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808555867d4c66" /><Relationship Type="http://schemas.openxmlformats.org/officeDocument/2006/relationships/image" Target="/ppt/media/image.png" Id="R745ad5be70894274" /><Relationship Type="http://schemas.openxmlformats.org/officeDocument/2006/relationships/image" Target="/ppt/media/image8.png" Id="Rbe2120ecb52645cb" /><Relationship Type="http://schemas.openxmlformats.org/officeDocument/2006/relationships/notesSlide" Target="/ppt/notesSlides/notesSlide19.xml" Id="Rebcfe6fe81154a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a55d0b8eac46e8" /><Relationship Type="http://schemas.openxmlformats.org/officeDocument/2006/relationships/image" Target="/ppt/media/image.png" Id="Ra014bd3d62644c64" /><Relationship Type="http://schemas.openxmlformats.org/officeDocument/2006/relationships/image" Target="/ppt/media/image9.png" Id="R7b74b09d77bb43a8" /><Relationship Type="http://schemas.openxmlformats.org/officeDocument/2006/relationships/notesSlide" Target="/ppt/notesSlides/notesSlide20.xml" Id="Rd2c0e633d828470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85721520864781" /><Relationship Type="http://schemas.openxmlformats.org/officeDocument/2006/relationships/image" Target="/ppt/media/image.png" Id="R3f394e1ecf8d4eb1" /><Relationship Type="http://schemas.openxmlformats.org/officeDocument/2006/relationships/image" Target="/ppt/media/image10.png" Id="R4b9a3660c39a4847" /><Relationship Type="http://schemas.openxmlformats.org/officeDocument/2006/relationships/notesSlide" Target="/ppt/notesSlides/notesSlide21.xml" Id="Reab505d258e64a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2753cc2fc34ba7" /><Relationship Type="http://schemas.openxmlformats.org/officeDocument/2006/relationships/image" Target="/ppt/media/image.png" Id="R7d9ebe5e64d948c0" /><Relationship Type="http://schemas.openxmlformats.org/officeDocument/2006/relationships/image" Target="/ppt/media/image11.png" Id="R4bcfdd9c962e499f" /><Relationship Type="http://schemas.openxmlformats.org/officeDocument/2006/relationships/notesSlide" Target="/ppt/notesSlides/notesSlide22.xml" Id="R3745639a85a2480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cb5d6878714133" /><Relationship Type="http://schemas.openxmlformats.org/officeDocument/2006/relationships/image" Target="/ppt/media/image.png" Id="R0183dee4c4a14207" /><Relationship Type="http://schemas.openxmlformats.org/officeDocument/2006/relationships/notesSlide" Target="/ppt/notesSlides/notesSlide23.xml" Id="Ra321bc8c8e2044a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4ec3bc6f5f4c2f" /><Relationship Type="http://schemas.openxmlformats.org/officeDocument/2006/relationships/image" Target="/ppt/media/image.png" Id="Rc2ad685c4d934be8" /><Relationship Type="http://schemas.openxmlformats.org/officeDocument/2006/relationships/notesSlide" Target="/ppt/notesSlides/notesSlide24.xml" Id="R964d7f77f5f846b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e62480be6049ca" /><Relationship Type="http://schemas.openxmlformats.org/officeDocument/2006/relationships/image" Target="/ppt/media/image.png" Id="Rf41265ed10314b5d" /><Relationship Type="http://schemas.openxmlformats.org/officeDocument/2006/relationships/notesSlide" Target="/ppt/notesSlides/notesSlide25.xml" Id="R02c89c4b04004a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8" name="Google Shape;68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6435a1e5d4fa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" name="Google Shape;6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66435a1e5d4fa9">
            <a:alphaModFix/>
          </a:blip>
          <a:srcRect xmlns:a="http://schemas.openxmlformats.org/drawingml/2006/main" l="0" t="0" r="28765" b="0"/>
          <a:stretch xmlns:a="http://schemas.openxmlformats.org/drawingml/2006/main"/>
        </p:blipFill>
        <p:spPr>
          <a:xfrm xmlns:a="http://schemas.openxmlformats.org/drawingml/2006/main">
            <a:off x="4514026" y="1456426"/>
            <a:ext cx="4427677" cy="25649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4">
            <a:extLst xmlns:a="http://schemas.openxmlformats.org/drawingml/2006/main">
              <a:ext uri="{FF2B5EF4-FFF2-40B4-BE49-F238E27FC236}">
                <a16:creationId xmlns:a16="http://schemas.microsoft.com/office/drawing/2014/main" id="{C915C314-A203-4CDD-8A7F-DB4BF552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209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>
            <a:extLst xmlns:a="http://schemas.openxmlformats.org/drawingml/2006/main">
              <a:ext uri="{FF2B5EF4-FFF2-40B4-BE49-F238E27FC236}">
                <a16:creationId xmlns:a16="http://schemas.microsoft.com/office/drawing/2014/main" id="{446F4271-27D5-49BA-9C7D-327CDE2D3A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72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01E2688C-3FA7-4BF4-95C8-8C443BA7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9" y="1385899"/>
            <a:ext cx="4280700" cy="1261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35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UmPipeline de Visão Computacional</a:t>
            </a:r>
            <a:endParaRPr sz="35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73" name="Google Shape;73;p14">
            <a:extLst xmlns:a="http://schemas.openxmlformats.org/drawingml/2006/main">
              <a:ext uri="{FF2B5EF4-FFF2-40B4-BE49-F238E27FC236}">
                <a16:creationId xmlns:a16="http://schemas.microsoft.com/office/drawing/2014/main" id="{E58C59E7-90B6-490B-9F4F-244FDAF2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45" y="2634276"/>
            <a:ext cx="4280700" cy="73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>
                <a:solidFill>
                  <a:srgbClr val="0C5C7C"/>
                </a:solidFill>
                <a:latin typeface="Play"/>
                <a:ea typeface="Play"/>
                <a:cs typeface="Play"/>
              </a:rPr>
              <a:t>Análise de Achados Hiperecogênicos em Ultrassonografia Renal</a:t>
            </a:r>
            <a:endParaRPr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74" name="Google Shape;74;p14">
            <a:extLst xmlns:a="http://schemas.openxmlformats.org/drawingml/2006/main">
              <a:ext uri="{FF2B5EF4-FFF2-40B4-BE49-F238E27FC236}">
                <a16:creationId xmlns:a16="http://schemas.microsoft.com/office/drawing/2014/main" id="{1E6ED131-8171-4931-9EFF-B85B0D6E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35" y="3445956"/>
            <a:ext cx="27081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>
            <a:extLst xmlns:a="http://schemas.openxmlformats.org/drawingml/2006/main">
              <a:ext uri="{FF2B5EF4-FFF2-40B4-BE49-F238E27FC236}">
                <a16:creationId xmlns:a16="http://schemas.microsoft.com/office/drawing/2014/main" id="{A944ED31-DAF1-4DBA-8052-CB36130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78" y="3583942"/>
            <a:ext cx="4280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E5E5E"/>
                </a:solidFill>
                <a:latin typeface="Lato"/>
                <a:ea typeface="Lato"/>
                <a:cs typeface="Lato"/>
              </a:rPr>
              <a:t>Jefferson S. dos Anjos et al.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E5E5E"/>
                </a:solidFill>
                <a:latin typeface="Lato"/>
                <a:ea typeface="Lato"/>
                <a:cs typeface="Lato"/>
              </a:rPr>
              <a:t>CEFET/RJ e HUPE - UERJ</a:t>
            </a:r>
          </a:p>
        </p:txBody>
      </p:sp>
    </p:spTree>
    <p:extLst>
      <p:ext uri="{BB962C8B-B14F-4D97-AF65-F5344CB8AC3E}">
        <p14:creationId xmlns:p14="http://schemas.microsoft.com/office/powerpoint/2010/main" val="561006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80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3325287264ae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8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43325287264aed">
            <a:alphaModFix amt="20000"/>
          </a:blip>
          <a:srcRect xmlns:a="http://schemas.openxmlformats.org/drawingml/2006/main" l="0" t="0" r="28765" b="0"/>
          <a:stretch xmlns:a="http://schemas.openxmlformats.org/drawingml/2006/main"/>
        </p:blipFill>
        <p:spPr>
          <a:xfrm xmlns:a="http://schemas.openxmlformats.org/drawingml/2006/main">
            <a:off x="4514026" y="1456426"/>
            <a:ext cx="4427677" cy="25649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2" name="Google Shape;82;p15">
            <a:extLst xmlns:a="http://schemas.openxmlformats.org/drawingml/2006/main">
              <a:ext uri="{FF2B5EF4-FFF2-40B4-BE49-F238E27FC236}">
                <a16:creationId xmlns:a16="http://schemas.microsoft.com/office/drawing/2014/main" id="{9B5B426B-88D3-491E-BFBB-86A5B9A8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>
            <a:extLst xmlns:a="http://schemas.openxmlformats.org/drawingml/2006/main">
              <a:ext uri="{FF2B5EF4-FFF2-40B4-BE49-F238E27FC236}">
                <a16:creationId xmlns:a16="http://schemas.microsoft.com/office/drawing/2014/main" id="{85871CF3-DD05-4309-BE96-B25F6EF6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881" y="981644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>
            <a:extLst xmlns:a="http://schemas.openxmlformats.org/drawingml/2006/main">
              <a:ext uri="{FF2B5EF4-FFF2-40B4-BE49-F238E27FC236}">
                <a16:creationId xmlns:a16="http://schemas.microsoft.com/office/drawing/2014/main" id="{E516E1C1-2AD2-45E3-9BD6-31BAF5DD24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ROTEIRO</a:t>
            </a:r>
          </a:p>
        </p:txBody>
      </p:sp>
      <p:sp>
        <p:nvSpPr>
          <p:cNvPr id="85" name="Google Shape;85;p15">
            <a:extLst xmlns:a="http://schemas.openxmlformats.org/drawingml/2006/main">
              <a:ext uri="{FF2B5EF4-FFF2-40B4-BE49-F238E27FC236}">
                <a16:creationId xmlns:a16="http://schemas.microsoft.com/office/drawing/2014/main" id="{6926CDC5-AE05-4F5B-AC13-50D00E93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875" y="1268762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D9E2"/>
                </a:solidFill>
                <a:latin typeface="Play"/>
                <a:ea typeface="Play"/>
                <a:cs typeface="Play"/>
              </a:rPr>
              <a:t>1</a:t>
            </a:r>
          </a:p>
        </p:txBody>
      </p:sp>
      <p:sp>
        <p:nvSpPr>
          <p:cNvPr id="86" name="Google Shape;86;p15">
            <a:extLst xmlns:a="http://schemas.openxmlformats.org/drawingml/2006/main">
              <a:ext uri="{FF2B5EF4-FFF2-40B4-BE49-F238E27FC236}">
                <a16:creationId xmlns:a16="http://schemas.microsoft.com/office/drawing/2014/main" id="{745E5E81-7FD9-4564-A393-779ABF0E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45" y="1280012"/>
            <a:ext cx="5621100" cy="40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Contexto e objetivo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Por que delimitar o rim primeiro</a:t>
            </a:r>
          </a:p>
        </p:txBody>
      </p:sp>
      <p:sp>
        <p:nvSpPr>
          <p:cNvPr id="87" name="Google Shape;87;p15">
            <a:extLst xmlns:a="http://schemas.openxmlformats.org/drawingml/2006/main">
              <a:ext uri="{FF2B5EF4-FFF2-40B4-BE49-F238E27FC236}">
                <a16:creationId xmlns:a16="http://schemas.microsoft.com/office/drawing/2014/main" id="{EB010B72-5330-4C83-A714-F3C9AD86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55" y="190295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D9E2"/>
                </a:solidFill>
                <a:latin typeface="Play"/>
                <a:ea typeface="Play"/>
                <a:cs typeface="Play"/>
              </a:rPr>
              <a:t>2</a:t>
            </a:r>
          </a:p>
        </p:txBody>
      </p:sp>
      <p:sp>
        <p:nvSpPr>
          <p:cNvPr id="88" name="Google Shape;88;p15">
            <a:extLst xmlns:a="http://schemas.openxmlformats.org/drawingml/2006/main">
              <a:ext uri="{FF2B5EF4-FFF2-40B4-BE49-F238E27FC236}">
                <a16:creationId xmlns:a16="http://schemas.microsoft.com/office/drawing/2014/main" id="{4CFCC35B-4F29-46E2-830E-3D640066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25" y="1914200"/>
            <a:ext cx="5621100" cy="40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Metodologia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Cascata em três etapas</a:t>
            </a:r>
          </a:p>
        </p:txBody>
      </p:sp>
      <p:sp>
        <p:nvSpPr>
          <p:cNvPr id="89" name="Google Shape;89;p15">
            <a:extLst xmlns:a="http://schemas.openxmlformats.org/drawingml/2006/main">
              <a:ext uri="{FF2B5EF4-FFF2-40B4-BE49-F238E27FC236}">
                <a16:creationId xmlns:a16="http://schemas.microsoft.com/office/drawing/2014/main" id="{8DDAE6EC-AE4C-41EE-9965-13D0D069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17" y="2512107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D9E2"/>
                </a:solidFill>
                <a:latin typeface="Play"/>
                <a:ea typeface="Play"/>
                <a:cs typeface="Play"/>
              </a:rPr>
              <a:t>3</a:t>
            </a:r>
          </a:p>
        </p:txBody>
      </p:sp>
      <p:sp>
        <p:nvSpPr>
          <p:cNvPr id="90" name="Google Shape;90;p15">
            <a:extLst xmlns:a="http://schemas.openxmlformats.org/drawingml/2006/main">
              <a:ext uri="{FF2B5EF4-FFF2-40B4-BE49-F238E27FC236}">
                <a16:creationId xmlns:a16="http://schemas.microsoft.com/office/drawing/2014/main" id="{1691AD07-3E79-42A5-BDF0-9CF1891A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87" y="2523357"/>
            <a:ext cx="5621100" cy="40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Dados e </a:t>
            </a: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protocolo</a:t>
            </a:r>
            <a:endParaRPr sz="1600" b="1">
              <a:solidFill>
                <a:srgbClr val="0C5C7C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Conjuntos 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auditados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 e 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partições</a:t>
            </a:r>
            <a:endParaRPr sz="120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91" name="Google Shape;91;p15">
            <a:extLst xmlns:a="http://schemas.openxmlformats.org/drawingml/2006/main">
              <a:ext uri="{FF2B5EF4-FFF2-40B4-BE49-F238E27FC236}">
                <a16:creationId xmlns:a16="http://schemas.microsoft.com/office/drawing/2014/main" id="{ACCD1D25-F8F9-45B3-AF72-132BD79A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17" y="3132339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D9E2"/>
                </a:solidFill>
                <a:latin typeface="Play"/>
                <a:ea typeface="Play"/>
                <a:cs typeface="Play"/>
              </a:rPr>
              <a:t>4</a:t>
            </a:r>
          </a:p>
        </p:txBody>
      </p:sp>
      <p:sp>
        <p:nvSpPr>
          <p:cNvPr id="92" name="Google Shape;92;p15">
            <a:extLst xmlns:a="http://schemas.openxmlformats.org/drawingml/2006/main">
              <a:ext uri="{FF2B5EF4-FFF2-40B4-BE49-F238E27FC236}">
                <a16:creationId xmlns:a16="http://schemas.microsoft.com/office/drawing/2014/main" id="{37263FDF-D36C-411B-9B75-873C8A6B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87" y="3143589"/>
            <a:ext cx="5621100" cy="40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Resultados</a:t>
            </a: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 da </a:t>
            </a: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cápsula</a:t>
            </a:r>
            <a:endParaRPr sz="1600" b="1">
              <a:solidFill>
                <a:srgbClr val="0C5C7C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Seleção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 do 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segmentador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 renal</a:t>
            </a:r>
          </a:p>
        </p:txBody>
      </p:sp>
      <p:sp>
        <p:nvSpPr>
          <p:cNvPr id="93" name="Google Shape;93;p15">
            <a:extLst xmlns:a="http://schemas.openxmlformats.org/drawingml/2006/main">
              <a:ext uri="{FF2B5EF4-FFF2-40B4-BE49-F238E27FC236}">
                <a16:creationId xmlns:a16="http://schemas.microsoft.com/office/drawing/2014/main" id="{DC87C1C0-4844-4552-93C8-A6FD8F7A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97" y="3766527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D9E2"/>
                </a:solidFill>
                <a:latin typeface="Play"/>
                <a:ea typeface="Play"/>
                <a:cs typeface="Play"/>
              </a:rPr>
              <a:t>5</a:t>
            </a:r>
          </a:p>
        </p:txBody>
      </p:sp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0CD5E622-67E8-42B2-971C-8FA2F6E9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67" y="3777777"/>
            <a:ext cx="5621100" cy="40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Consenso</a:t>
            </a: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 e </a:t>
            </a: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regiões</a:t>
            </a: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 </a:t>
            </a: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internas</a:t>
            </a:r>
            <a:endParaRPr sz="1600" b="1">
              <a:solidFill>
                <a:srgbClr val="0C5C7C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Triagem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 e 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segmentação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 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multiclasse</a:t>
            </a:r>
            <a:endParaRPr sz="120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95" name="Google Shape;95;p15">
            <a:extLst xmlns:a="http://schemas.openxmlformats.org/drawingml/2006/main">
              <a:ext uri="{FF2B5EF4-FFF2-40B4-BE49-F238E27FC236}">
                <a16:creationId xmlns:a16="http://schemas.microsoft.com/office/drawing/2014/main" id="{E0761BDE-FBB7-414F-9640-B3BC8195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59" y="4375684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D9E2"/>
                </a:solidFill>
                <a:latin typeface="Play"/>
                <a:ea typeface="Play"/>
                <a:cs typeface="Play"/>
              </a:rPr>
              <a:t>6</a:t>
            </a:r>
          </a:p>
        </p:txBody>
      </p:sp>
      <p:sp>
        <p:nvSpPr>
          <p:cNvPr id="96" name="Google Shape;96;p15">
            <a:extLst xmlns:a="http://schemas.openxmlformats.org/drawingml/2006/main">
              <a:ext uri="{FF2B5EF4-FFF2-40B4-BE49-F238E27FC236}">
                <a16:creationId xmlns:a16="http://schemas.microsoft.com/office/drawing/2014/main" id="{5452DAEE-CE8F-478C-98C8-7824C54F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87" y="4386934"/>
            <a:ext cx="5621100" cy="40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Conclusões</a:t>
            </a:r>
            <a:endParaRPr sz="1600" b="1">
              <a:solidFill>
                <a:srgbClr val="0C5C7C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Limites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 e 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próximos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 </a:t>
            </a: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passos</a:t>
            </a:r>
            <a:endParaRPr sz="120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97" name="Google Shape;97;p15">
            <a:extLst xmlns:a="http://schemas.openxmlformats.org/drawingml/2006/main">
              <a:ext uri="{FF2B5EF4-FFF2-40B4-BE49-F238E27FC236}">
                <a16:creationId xmlns:a16="http://schemas.microsoft.com/office/drawing/2014/main" id="{0CCC5540-CC28-456E-8D04-A38613E3CB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1940999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0D2D3">
            <a:alpha val="30259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2" name="Google Shape;102;p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09c5228a6405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3" name="Google Shape;103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a09c5228a64054">
            <a:alphaModFix amt="20000"/>
          </a:blip>
          <a:srcRect xmlns:a="http://schemas.openxmlformats.org/drawingml/2006/main" l="0" t="0" r="28765" b="0"/>
          <a:stretch xmlns:a="http://schemas.openxmlformats.org/drawingml/2006/main"/>
        </p:blipFill>
        <p:spPr>
          <a:xfrm xmlns:a="http://schemas.openxmlformats.org/drawingml/2006/main">
            <a:off x="4514026" y="1456426"/>
            <a:ext cx="4427677" cy="25649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" name="Google Shape;104;p16">
            <a:extLst xmlns:a="http://schemas.openxmlformats.org/drawingml/2006/main">
              <a:ext uri="{FF2B5EF4-FFF2-40B4-BE49-F238E27FC236}">
                <a16:creationId xmlns:a16="http://schemas.microsoft.com/office/drawing/2014/main" id="{2F878B6A-84D1-4F38-9144-9A591D80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>
            <a:extLst xmlns:a="http://schemas.openxmlformats.org/drawingml/2006/main">
              <a:ext uri="{FF2B5EF4-FFF2-40B4-BE49-F238E27FC236}">
                <a16:creationId xmlns:a16="http://schemas.microsoft.com/office/drawing/2014/main" id="{E0147483-030C-4094-B0E0-BB94B459A0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3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06" name="Google Shape;106;p16">
            <a:extLst xmlns:a="http://schemas.openxmlformats.org/drawingml/2006/main">
              <a:ext uri="{FF2B5EF4-FFF2-40B4-BE49-F238E27FC236}">
                <a16:creationId xmlns:a16="http://schemas.microsoft.com/office/drawing/2014/main" id="{20C57001-BC1C-47F7-A7D2-F23AF3E6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2" y="2248500"/>
            <a:ext cx="59421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CONTEXTO E OBJETIVO</a:t>
            </a:r>
          </a:p>
        </p:txBody>
      </p:sp>
      <p:sp>
        <p:nvSpPr>
          <p:cNvPr id="107" name="Google Shape;107;p16">
            <a:extLst xmlns:a="http://schemas.openxmlformats.org/drawingml/2006/main">
              <a:ext uri="{FF2B5EF4-FFF2-40B4-BE49-F238E27FC236}">
                <a16:creationId xmlns:a16="http://schemas.microsoft.com/office/drawing/2014/main" id="{519EE504-FE82-4041-97A9-B6F7A6E0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45" y="2938851"/>
            <a:ext cx="4280700" cy="73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C5C7C"/>
                </a:solidFill>
                <a:latin typeface="Play"/>
                <a:ea typeface="Play"/>
                <a:cs typeface="Play"/>
              </a:rPr>
              <a:t>Analisar estruturas internas requer uma ROI renal confiável.</a:t>
            </a:r>
          </a:p>
        </p:txBody>
      </p:sp>
      <p:sp>
        <p:nvSpPr>
          <p:cNvPr id="108" name="Google Shape;108;p16">
            <a:extLst xmlns:a="http://schemas.openxmlformats.org/drawingml/2006/main">
              <a:ext uri="{FF2B5EF4-FFF2-40B4-BE49-F238E27FC236}">
                <a16:creationId xmlns:a16="http://schemas.microsoft.com/office/drawing/2014/main" id="{FDD1EEDE-C387-4599-9833-46800BC6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10" y="1942156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>
            <a:extLst xmlns:a="http://schemas.openxmlformats.org/drawingml/2006/main">
              <a:ext uri="{FF2B5EF4-FFF2-40B4-BE49-F238E27FC236}">
                <a16:creationId xmlns:a16="http://schemas.microsoft.com/office/drawing/2014/main" id="{12E626E9-0873-49D8-AD09-3CC377B1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94" y="677474"/>
            <a:ext cx="4280700" cy="14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01</a:t>
            </a:r>
            <a:endParaRPr sz="82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20190805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AB39202C-EB18-47BD-98DC-563BDE251F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Delimitar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o rim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reduz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falsos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achados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35" name="Google Shape;127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e7001e21147a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DAAB4BC5-1048-4849-8393-00A3B802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 xmlns:a="http://schemas.openxmlformats.org/drawingml/2006/main">
              <a:ext uri="{FF2B5EF4-FFF2-40B4-BE49-F238E27FC236}">
                <a16:creationId xmlns:a16="http://schemas.microsoft.com/office/drawing/2014/main" id="{50DF9137-79DE-4382-97BF-5AB470A2D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4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BB6F62CF-4E6C-46BE-8D96-A4F1AD12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>
            <a:extLst xmlns:a="http://schemas.openxmlformats.org/drawingml/2006/main">
              <a:ext uri="{FF2B5EF4-FFF2-40B4-BE49-F238E27FC236}">
                <a16:creationId xmlns:a16="http://schemas.microsoft.com/office/drawing/2014/main" id="{7679C2EE-B596-42A9-85CF-578632DB32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699" y="1473666"/>
            <a:ext cx="5692151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PROBLEMA</a:t>
            </a: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Inspeção visual ainda é subjetiva</a:t>
            </a: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Ruído e sombras dificultam a delimitação</a:t>
            </a: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Sem ROI renal, brilho pode ser artefato</a:t>
            </a:r>
          </a:p>
        </p:txBody>
      </p:sp>
      <p:pic>
        <p:nvPicPr>
          <p:cNvPr id="140" name="Google Shape;13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cb6270cbef4b1a">
            <a:alphaModFix/>
          </a:blip>
          <a:stretch xmlns:a="http://schemas.openxmlformats.org/drawingml/2006/main"/>
        </p:blipFill>
        <p:spPr>
          <a:xfrm xmlns:a="http://schemas.openxmlformats.org/drawingml/2006/main">
            <a:off x="5905500" y="1219200"/>
            <a:ext cx="2924175" cy="3238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01771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F95E5087-76F8-ED1A-524F-C9C2A35665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Delimitar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o rim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reduz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falsos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achados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36" name="Google Shape;127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6e22b7c734f1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EFA176F1-E183-EFD8-D4E8-691DBF1A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 xmlns:a="http://schemas.openxmlformats.org/drawingml/2006/main">
              <a:ext uri="{FF2B5EF4-FFF2-40B4-BE49-F238E27FC236}">
                <a16:creationId xmlns:a16="http://schemas.microsoft.com/office/drawing/2014/main" id="{67F83B28-667A-DE0D-678D-54232FE549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5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66A562E6-4A2E-AD02-5451-01A4288A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>
            <a:extLst xmlns:a="http://schemas.openxmlformats.org/drawingml/2006/main">
              <a:ext uri="{FF2B5EF4-FFF2-40B4-BE49-F238E27FC236}">
                <a16:creationId xmlns:a16="http://schemas.microsoft.com/office/drawing/2014/main" id="{7560BF37-8C4E-7B8E-40E9-71B8CFE69D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7797" y="1471008"/>
            <a:ext cx="5662527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OBJETIVO</a:t>
            </a: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Delimitar a cápsula renal</a:t>
            </a:r>
            <a:endParaRPr sz="1300">
              <a:solidFill>
                <a:srgbClr val="5E5E5E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Verificar o consenso entre modelos</a:t>
            </a:r>
            <a:endParaRPr sz="1300">
              <a:solidFill>
                <a:srgbClr val="5E5E5E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Segmentar córtex, medula e CEC</a:t>
            </a:r>
            <a:endParaRPr sz="130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1" name="Google Shape;13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203be44ab94155">
            <a:alphaModFix/>
          </a:blip>
          <a:stretch xmlns:a="http://schemas.openxmlformats.org/drawingml/2006/main"/>
        </p:blipFill>
        <p:spPr>
          <a:xfrm xmlns:a="http://schemas.openxmlformats.org/drawingml/2006/main">
            <a:off x="5905500" y="1219200"/>
            <a:ext cx="2924175" cy="3238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188086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D9FCC42E-8447-195E-99D3-E735083845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Delimitar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o rim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reduz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falsos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achados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34" name="Google Shape;127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1cb90836f4a0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D413E338-59FF-0DCF-CCCF-F7A0DE09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 xmlns:a="http://schemas.openxmlformats.org/drawingml/2006/main">
              <a:ext uri="{FF2B5EF4-FFF2-40B4-BE49-F238E27FC236}">
                <a16:creationId xmlns:a16="http://schemas.microsoft.com/office/drawing/2014/main" id="{D66B607F-1AA3-07B4-81B4-8DF04432CD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6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634A19CF-73EA-8279-9F46-F1A55228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" name="Google Shape;13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05bce5aa754396">
            <a:alphaModFix/>
          </a:blip>
          <a:stretch xmlns:a="http://schemas.openxmlformats.org/drawingml/2006/main"/>
        </p:blipFill>
        <p:spPr>
          <a:xfrm xmlns:a="http://schemas.openxmlformats.org/drawingml/2006/main">
            <a:off x="1297797" y="1197529"/>
            <a:ext cx="6418407" cy="33319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775105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0D2D3">
            <a:alpha val="30259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38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7830a49094b9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39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17830a49094b9e">
            <a:alphaModFix amt="20000"/>
          </a:blip>
          <a:srcRect xmlns:a="http://schemas.openxmlformats.org/drawingml/2006/main" l="0" t="0" r="28765" b="0"/>
          <a:stretch xmlns:a="http://schemas.openxmlformats.org/drawingml/2006/main"/>
        </p:blipFill>
        <p:spPr>
          <a:xfrm xmlns:a="http://schemas.openxmlformats.org/drawingml/2006/main">
            <a:off x="4514026" y="1456426"/>
            <a:ext cx="4427677" cy="25649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0" name="Google Shape;140;p19">
            <a:extLst xmlns:a="http://schemas.openxmlformats.org/drawingml/2006/main">
              <a:ext uri="{FF2B5EF4-FFF2-40B4-BE49-F238E27FC236}">
                <a16:creationId xmlns:a16="http://schemas.microsoft.com/office/drawing/2014/main" id="{856135FF-72A0-4835-B3CC-0ACABC71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2647F163-BEAA-4049-AAC1-6A198900C2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7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5E53BB62-F423-4F27-8D95-84523180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2" y="2248500"/>
            <a:ext cx="59421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METODOLOGIA</a:t>
            </a:r>
          </a:p>
        </p:txBody>
      </p:sp>
      <p:sp>
        <p:nvSpPr>
          <p:cNvPr id="143" name="Google Shape;143;p19">
            <a:extLst xmlns:a="http://schemas.openxmlformats.org/drawingml/2006/main">
              <a:ext uri="{FF2B5EF4-FFF2-40B4-BE49-F238E27FC236}">
                <a16:creationId xmlns:a16="http://schemas.microsoft.com/office/drawing/2014/main" id="{DFD32938-DF7A-4899-B290-A05EC144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45" y="2938851"/>
            <a:ext cx="4280700" cy="73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C5C7C"/>
                </a:solidFill>
                <a:latin typeface="Play"/>
                <a:ea typeface="Play"/>
                <a:cs typeface="Play"/>
              </a:rPr>
              <a:t>A região analisada é delimitada progressivamente.</a:t>
            </a:r>
          </a:p>
        </p:txBody>
      </p:sp>
      <p:sp>
        <p:nvSpPr>
          <p:cNvPr id="144" name="Google Shape;144;p19">
            <a:extLst xmlns:a="http://schemas.openxmlformats.org/drawingml/2006/main">
              <a:ext uri="{FF2B5EF4-FFF2-40B4-BE49-F238E27FC236}">
                <a16:creationId xmlns:a16="http://schemas.microsoft.com/office/drawing/2014/main" id="{17598640-7CD9-41A2-AA1D-6CD9AE4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10" y="1942156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>
            <a:extLst xmlns:a="http://schemas.openxmlformats.org/drawingml/2006/main">
              <a:ext uri="{FF2B5EF4-FFF2-40B4-BE49-F238E27FC236}">
                <a16:creationId xmlns:a16="http://schemas.microsoft.com/office/drawing/2014/main" id="{10BF4ACA-78FF-42AE-9784-43EE980C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94" y="677474"/>
            <a:ext cx="4280700" cy="14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02</a:t>
            </a:r>
            <a:endParaRPr sz="82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2117527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p20">
            <a:extLst xmlns:a="http://schemas.openxmlformats.org/drawingml/2006/main">
              <a:ext uri="{FF2B5EF4-FFF2-40B4-BE49-F238E27FC236}">
                <a16:creationId xmlns:a16="http://schemas.microsoft.com/office/drawing/2014/main" id="{E6F10575-CBE9-4259-BEFA-F1A077A55D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Cascata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em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três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etapas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encadeadas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: 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8" name="Espaço Reservado para Texto 7">
            <a:extLst xmlns:a="http://schemas.openxmlformats.org/drawingml/2006/main">
              <a:ext uri="{FF2B5EF4-FFF2-40B4-BE49-F238E27FC236}">
                <a16:creationId xmlns:a16="http://schemas.microsoft.com/office/drawing/2014/main" id="{F3D5B227-C25A-68BC-F144-D4C0D1AD57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699" y="1152475"/>
            <a:ext cx="5465323" cy="3416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39700" indent="0">
              <a:buNone/>
            </a:pPr>
            <a:r>
              <a:rPr b="1"/>
              <a:t>SEGMENTAÇÃO DA CÁPSULA</a:t>
            </a:r>
          </a:p>
          <a:p xmlns:a="http://schemas.openxmlformats.org/drawingml/2006/main">
            <a:pPr marL="139700" indent="0">
              <a:buNone/>
            </a:pPr>
            <a:r>
              <a:t>• CLAHE melhora o contraste</a:t>
            </a:r>
          </a:p>
          <a:p xmlns:a="http://schemas.openxmlformats.org/drawingml/2006/main">
            <a:pPr marL="139700" indent="0">
              <a:buNone/>
            </a:pPr>
            <a:r>
              <a:t>• U-Net: Dice 0,9290</a:t>
            </a:r>
          </a:p>
          <a:p xmlns:a="http://schemas.openxmlformats.org/drawingml/2006/main">
            <a:pPr marL="139700" indent="0">
              <a:buNone/>
            </a:pPr>
            <a:r>
              <a:t>• A cápsula define a ROI da cascata</a:t>
            </a:r>
          </a:p>
        </p:txBody>
      </p:sp>
      <p:sp>
        <p:nvSpPr>
          <p:cNvPr id="153" name="Google Shape;153;p20">
            <a:extLst xmlns:a="http://schemas.openxmlformats.org/drawingml/2006/main">
              <a:ext uri="{FF2B5EF4-FFF2-40B4-BE49-F238E27FC236}">
                <a16:creationId xmlns:a16="http://schemas.microsoft.com/office/drawing/2014/main" id="{CD1F6C26-C88E-4386-978E-290E1B05DB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8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pic>
        <p:nvPicPr>
          <p:cNvPr id="160" name="Google Shape;151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15b69ac584b0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2" name="Google Shape;152;p20">
            <a:extLst xmlns:a="http://schemas.openxmlformats.org/drawingml/2006/main">
              <a:ext uri="{FF2B5EF4-FFF2-40B4-BE49-F238E27FC236}">
                <a16:creationId xmlns:a16="http://schemas.microsoft.com/office/drawing/2014/main" id="{0F49A80B-221C-476E-9990-A8329045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>
            <a:extLst xmlns:a="http://schemas.openxmlformats.org/drawingml/2006/main">
              <a:ext uri="{FF2B5EF4-FFF2-40B4-BE49-F238E27FC236}">
                <a16:creationId xmlns:a16="http://schemas.microsoft.com/office/drawing/2014/main" id="{6A743674-BFF6-4F1E-B6BC-C00D1790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Imagem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8129524394b0d"/>
          <a:srcRect xmlns:a="http://schemas.openxmlformats.org/drawingml/2006/main" l="26951" t="3135" r="26124" b="4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8377" y="942524"/>
            <a:ext cx="2537826" cy="37559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832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p20">
            <a:extLst xmlns:a="http://schemas.openxmlformats.org/drawingml/2006/main">
              <a:ext uri="{FF2B5EF4-FFF2-40B4-BE49-F238E27FC236}">
                <a16:creationId xmlns:a16="http://schemas.microsoft.com/office/drawing/2014/main" id="{27767795-2740-93CA-44F3-14EA4365F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Cascata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em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três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etapas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encadeadas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: 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8" name="Espaço Reservado para Texto 7">
            <a:extLst xmlns:a="http://schemas.openxmlformats.org/drawingml/2006/main">
              <a:ext uri="{FF2B5EF4-FFF2-40B4-BE49-F238E27FC236}">
                <a16:creationId xmlns:a16="http://schemas.microsoft.com/office/drawing/2014/main" id="{AE2765BB-E9EC-6CD6-8201-D94E247642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699" y="1152475"/>
            <a:ext cx="5465323" cy="3416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39700" indent="0">
              <a:buNone/>
            </a:pPr>
            <a:r>
              <a:rPr b="1"/>
              <a:t>CONSENSO ENTRE MODELOS</a:t>
            </a:r>
          </a:p>
          <a:p xmlns:a="http://schemas.openxmlformats.org/drawingml/2006/main">
            <a:pPr marL="139700" indent="0">
              <a:buNone/>
            </a:pPr>
            <a:r>
              <a:t>• U-Net × DeepLabV3</a:t>
            </a:r>
            <a:endParaRPr b="1"/>
          </a:p>
          <a:p xmlns:a="http://schemas.openxmlformats.org/drawingml/2006/main">
            <a:pPr marL="139700" indent="0">
              <a:buNone/>
            </a:pPr>
            <a:r>
              <a:t>• Dice mede a concordância</a:t>
            </a:r>
          </a:p>
          <a:p xmlns:a="http://schemas.openxmlformats.org/drawingml/2006/main">
            <a:pPr marL="139700" indent="0">
              <a:buNone/>
            </a:pPr>
            <a:r>
              <a:t>• Prioriza a revisão humana</a:t>
            </a:r>
          </a:p>
        </p:txBody>
      </p:sp>
      <p:sp>
        <p:nvSpPr>
          <p:cNvPr id="153" name="Google Shape;153;p20">
            <a:extLst xmlns:a="http://schemas.openxmlformats.org/drawingml/2006/main">
              <a:ext uri="{FF2B5EF4-FFF2-40B4-BE49-F238E27FC236}">
                <a16:creationId xmlns:a16="http://schemas.microsoft.com/office/drawing/2014/main" id="{4686ECE1-968B-E647-CBFD-E04778CBDC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9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pic>
        <p:nvPicPr>
          <p:cNvPr id="160" name="Google Shape;151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1e0af325c45e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2" name="Google Shape;152;p20">
            <a:extLst xmlns:a="http://schemas.openxmlformats.org/drawingml/2006/main">
              <a:ext uri="{FF2B5EF4-FFF2-40B4-BE49-F238E27FC236}">
                <a16:creationId xmlns:a16="http://schemas.microsoft.com/office/drawing/2014/main" id="{CF30AB01-2011-8F9A-63CC-77A0891A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>
            <a:extLst xmlns:a="http://schemas.openxmlformats.org/drawingml/2006/main">
              <a:ext uri="{FF2B5EF4-FFF2-40B4-BE49-F238E27FC236}">
                <a16:creationId xmlns:a16="http://schemas.microsoft.com/office/drawing/2014/main" id="{337AD2F1-036F-7523-6E7E-C648A54F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Imagem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54452c160400e"/>
          <a:srcRect xmlns:a="http://schemas.openxmlformats.org/drawingml/2006/main" l="24662" t="0" r="24662" b="0"/>
          <a:stretch xmlns:a="http://schemas.openxmlformats.org/drawingml/2006/main"/>
        </p:blipFill>
        <p:spPr>
          <a:xfrm xmlns:a="http://schemas.openxmlformats.org/drawingml/2006/main">
            <a:off x="6060558" y="723754"/>
            <a:ext cx="2685645" cy="39747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6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p20">
            <a:extLst xmlns:a="http://schemas.openxmlformats.org/drawingml/2006/main">
              <a:ext uri="{FF2B5EF4-FFF2-40B4-BE49-F238E27FC236}">
                <a16:creationId xmlns:a16="http://schemas.microsoft.com/office/drawing/2014/main" id="{C0A2EBBB-9E05-326C-ADA7-4600845BC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Cascata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em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três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etapas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encadeadas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: 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8" name="Espaço Reservado para Texto 7">
            <a:extLst xmlns:a="http://schemas.openxmlformats.org/drawingml/2006/main">
              <a:ext uri="{FF2B5EF4-FFF2-40B4-BE49-F238E27FC236}">
                <a16:creationId xmlns:a16="http://schemas.microsoft.com/office/drawing/2014/main" id="{693D4248-B64A-490B-BAF9-3A0336E633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699" y="1152475"/>
            <a:ext cx="5465323" cy="3416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39700" indent="0">
              <a:buNone/>
            </a:pPr>
            <a:r>
              <a:rPr b="1"/>
              <a:t>ESTRUTURAS INTRARRENAIS</a:t>
            </a:r>
          </a:p>
          <a:p xmlns:a="http://schemas.openxmlformats.org/drawingml/2006/main">
            <a:pPr marL="139700" indent="0">
              <a:buNone/>
            </a:pPr>
            <a:r>
              <a:t>• ROI definida pela cápsula</a:t>
            </a:r>
            <a:endParaRPr b="1"/>
          </a:p>
          <a:p xmlns:a="http://schemas.openxmlformats.org/drawingml/2006/main">
            <a:pPr marL="139700" indent="0">
              <a:buNone/>
            </a:pPr>
            <a:r>
              <a:t>• Córtex, medula e CEC</a:t>
            </a:r>
          </a:p>
          <a:p xmlns:a="http://schemas.openxmlformats.org/drawingml/2006/main">
            <a:pPr marL="139700" indent="0">
              <a:buNone/>
            </a:pPr>
            <a:r>
              <a:t>• U-Net: Dice médio 0,7594</a:t>
            </a:r>
          </a:p>
        </p:txBody>
      </p:sp>
      <p:sp>
        <p:nvSpPr>
          <p:cNvPr id="153" name="Google Shape;153;p20">
            <a:extLst xmlns:a="http://schemas.openxmlformats.org/drawingml/2006/main">
              <a:ext uri="{FF2B5EF4-FFF2-40B4-BE49-F238E27FC236}">
                <a16:creationId xmlns:a16="http://schemas.microsoft.com/office/drawing/2014/main" id="{6123BB92-1F6B-634C-93F3-2A99947624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10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pic>
        <p:nvPicPr>
          <p:cNvPr id="160" name="Google Shape;151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a2e3376724ea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2" name="Google Shape;152;p20">
            <a:extLst xmlns:a="http://schemas.openxmlformats.org/drawingml/2006/main">
              <a:ext uri="{FF2B5EF4-FFF2-40B4-BE49-F238E27FC236}">
                <a16:creationId xmlns:a16="http://schemas.microsoft.com/office/drawing/2014/main" id="{5A0CEC79-DB00-1A33-9231-D14E3BC5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>
            <a:extLst xmlns:a="http://schemas.openxmlformats.org/drawingml/2006/main">
              <a:ext uri="{FF2B5EF4-FFF2-40B4-BE49-F238E27FC236}">
                <a16:creationId xmlns:a16="http://schemas.microsoft.com/office/drawing/2014/main" id="{8C5F87F4-8F89-2313-FB28-AE93B85C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Imagem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db1f006494e9c"/>
          <a:srcRect xmlns:a="http://schemas.openxmlformats.org/drawingml/2006/main" l="24662" t="0" r="24662" b="0"/>
          <a:stretch xmlns:a="http://schemas.openxmlformats.org/drawingml/2006/main"/>
        </p:blipFill>
        <p:spPr>
          <a:xfrm xmlns:a="http://schemas.openxmlformats.org/drawingml/2006/main">
            <a:off x="6060558" y="723754"/>
            <a:ext cx="2685645" cy="39747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048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0D2D3">
            <a:alpha val="30259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38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2a8732d934da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39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72a8732d934da6">
            <a:alphaModFix amt="20000"/>
          </a:blip>
          <a:srcRect xmlns:a="http://schemas.openxmlformats.org/drawingml/2006/main" l="0" t="0" r="28765" b="0"/>
          <a:stretch xmlns:a="http://schemas.openxmlformats.org/drawingml/2006/main"/>
        </p:blipFill>
        <p:spPr>
          <a:xfrm xmlns:a="http://schemas.openxmlformats.org/drawingml/2006/main">
            <a:off x="4514026" y="1456426"/>
            <a:ext cx="4427677" cy="25649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0" name="Google Shape;140;p19">
            <a:extLst xmlns:a="http://schemas.openxmlformats.org/drawingml/2006/main">
              <a:ext uri="{FF2B5EF4-FFF2-40B4-BE49-F238E27FC236}">
                <a16:creationId xmlns:a16="http://schemas.microsoft.com/office/drawing/2014/main" id="{982C6D72-60B7-5478-CCDC-81A6E4EE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43E0F0C4-6F04-B4B6-ADF3-3433C1A20B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11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C30272B8-83E4-8BF6-3E7C-9C386466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2" y="2248500"/>
            <a:ext cx="5942100" cy="1138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Dados e protocolo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43" name="Google Shape;143;p19">
            <a:extLst xmlns:a="http://schemas.openxmlformats.org/drawingml/2006/main">
              <a:ext uri="{FF2B5EF4-FFF2-40B4-BE49-F238E27FC236}">
                <a16:creationId xmlns:a16="http://schemas.microsoft.com/office/drawing/2014/main" id="{78909C99-5CB9-9FB8-3FD1-D9D7DB40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45" y="2938851"/>
            <a:ext cx="4280700" cy="461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C5C7C"/>
                </a:solidFill>
                <a:latin typeface="Play"/>
                <a:ea typeface="Play"/>
                <a:cs typeface="Play"/>
              </a:rPr>
              <a:t>Conjuntos auditados e partições. </a:t>
            </a:r>
          </a:p>
        </p:txBody>
      </p:sp>
      <p:sp>
        <p:nvSpPr>
          <p:cNvPr id="144" name="Google Shape;144;p19">
            <a:extLst xmlns:a="http://schemas.openxmlformats.org/drawingml/2006/main">
              <a:ext uri="{FF2B5EF4-FFF2-40B4-BE49-F238E27FC236}">
                <a16:creationId xmlns:a16="http://schemas.microsoft.com/office/drawing/2014/main" id="{A6842782-D87A-9159-4A78-72B9863B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10" y="1942156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>
            <a:extLst xmlns:a="http://schemas.openxmlformats.org/drawingml/2006/main">
              <a:ext uri="{FF2B5EF4-FFF2-40B4-BE49-F238E27FC236}">
                <a16:creationId xmlns:a16="http://schemas.microsoft.com/office/drawing/2014/main" id="{FCCBD5FC-26AC-74DE-B976-855C955A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94" y="677474"/>
            <a:ext cx="4280700" cy="14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0</a:t>
            </a:r>
            <a:r>
              <a:rPr sz="8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3</a:t>
            </a:r>
            <a:endParaRPr sz="82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2090007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17">
            <a:extLst xmlns:a="http://schemas.openxmlformats.org/drawingml/2006/main">
              <a:ext uri="{FF2B5EF4-FFF2-40B4-BE49-F238E27FC236}">
                <a16:creationId xmlns:a16="http://schemas.microsoft.com/office/drawing/2014/main" id="{F9E96716-79AB-48D6-A88F-389D47EB7D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Dados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auditados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evitam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vazamento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23" name="Google Shape;11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0a5e757b24ea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6" name="Google Shape;116;p17">
            <a:extLst xmlns:a="http://schemas.openxmlformats.org/drawingml/2006/main">
              <a:ext uri="{FF2B5EF4-FFF2-40B4-BE49-F238E27FC236}">
                <a16:creationId xmlns:a16="http://schemas.microsoft.com/office/drawing/2014/main" id="{6912C249-15A3-408E-9F16-44FA8B84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>
            <a:extLst xmlns:a="http://schemas.openxmlformats.org/drawingml/2006/main">
              <a:ext uri="{FF2B5EF4-FFF2-40B4-BE49-F238E27FC236}">
                <a16:creationId xmlns:a16="http://schemas.microsoft.com/office/drawing/2014/main" id="{5C61ECCF-7072-47E7-AF9E-970A1B86FA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12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6EB9CA5-A0CC-44BA-98D2-B7A93946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AF585512-044B-4905-893D-2C69C23FD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473666"/>
            <a:ext cx="6237956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CÁPSULA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486 registros → 468 imagens únicas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114300" indent="0">
              <a:buNone/>
            </a:pPr>
            <a:r>
              <a:rPr sz="1400"/>
              <a:t>• Auditoria por hash removeu duplicidades</a:t>
            </a:r>
          </a:p>
          <a:p xmlns:a="http://schemas.openxmlformats.org/drawingml/2006/main">
            <a:pPr marL="114300" indent="0">
              <a:buNone/>
            </a:pPr>
            <a:r>
              <a:t>• 328 treino | 70 validação | 70 teste</a:t>
            </a:r>
            <a:endParaRPr sz="1400"/>
          </a:p>
        </p:txBody>
      </p:sp>
      <p:pic>
        <p:nvPicPr>
          <p:cNvPr id="128" name="Imagem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90ef535994dc5"/>
          <a:srcRect xmlns:a="http://schemas.openxmlformats.org/drawingml/2006/main" l="0" t="0" r="657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6484" y="1260349"/>
            <a:ext cx="2055816" cy="35785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9296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17">
            <a:extLst xmlns:a="http://schemas.openxmlformats.org/drawingml/2006/main">
              <a:ext uri="{FF2B5EF4-FFF2-40B4-BE49-F238E27FC236}">
                <a16:creationId xmlns:a16="http://schemas.microsoft.com/office/drawing/2014/main" id="{D4395CEC-4695-BBF7-7E72-3A4F9EA614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Dados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auditados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evitam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vazamento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23" name="Google Shape;11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2b317eb14466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6" name="Google Shape;116;p17">
            <a:extLst xmlns:a="http://schemas.openxmlformats.org/drawingml/2006/main">
              <a:ext uri="{FF2B5EF4-FFF2-40B4-BE49-F238E27FC236}">
                <a16:creationId xmlns:a16="http://schemas.microsoft.com/office/drawing/2014/main" id="{D16E67C9-72A7-78AB-C12E-0A62345A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>
            <a:extLst xmlns:a="http://schemas.openxmlformats.org/drawingml/2006/main">
              <a:ext uri="{FF2B5EF4-FFF2-40B4-BE49-F238E27FC236}">
                <a16:creationId xmlns:a16="http://schemas.microsoft.com/office/drawing/2014/main" id="{C6DEE738-95BD-5201-814F-0929E4268C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13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3995D2AB-F7D8-B917-98C4-C1BC61DC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1FE5CEC5-E1FF-FD64-61ED-00F662E1F7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473666"/>
            <a:ext cx="6237956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ESTRUTURAS INTRARRENAIS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335 imagens anotadas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114300" indent="0">
              <a:buNone/>
            </a:pPr>
            <a:r>
              <a:rPr sz="1400"/>
              <a:t>• Divisão por paciente</a:t>
            </a:r>
          </a:p>
          <a:p xmlns:a="http://schemas.openxmlformats.org/drawingml/2006/main">
            <a:pPr marL="114300" indent="0">
              <a:buNone/>
            </a:pPr>
            <a:r>
              <a:t>• 235 treino | 50 validação | 50 teste</a:t>
            </a:r>
            <a:endParaRPr sz="1400"/>
          </a:p>
        </p:txBody>
      </p:sp>
      <p:pic>
        <p:nvPicPr>
          <p:cNvPr id="128" name="Imagem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e7c82aa474e11"/>
          <a:srcRect xmlns:a="http://schemas.openxmlformats.org/drawingml/2006/main" l="34111" t="0" r="300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55219" y="1280495"/>
            <a:ext cx="2147776" cy="35785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939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17">
            <a:extLst xmlns:a="http://schemas.openxmlformats.org/drawingml/2006/main">
              <a:ext uri="{FF2B5EF4-FFF2-40B4-BE49-F238E27FC236}">
                <a16:creationId xmlns:a16="http://schemas.microsoft.com/office/drawing/2014/main" id="{AD497117-4588-E58F-0C45-679F276C7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Dados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auditados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evitam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vazamento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23" name="Google Shape;11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d6aaf998a463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6" name="Google Shape;116;p17">
            <a:extLst xmlns:a="http://schemas.openxmlformats.org/drawingml/2006/main">
              <a:ext uri="{FF2B5EF4-FFF2-40B4-BE49-F238E27FC236}">
                <a16:creationId xmlns:a16="http://schemas.microsoft.com/office/drawing/2014/main" id="{D2A9D726-3764-81A2-5919-CF8B9B2B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>
            <a:extLst xmlns:a="http://schemas.openxmlformats.org/drawingml/2006/main">
              <a:ext uri="{FF2B5EF4-FFF2-40B4-BE49-F238E27FC236}">
                <a16:creationId xmlns:a16="http://schemas.microsoft.com/office/drawing/2014/main" id="{8F84687D-3A02-9EB6-9596-FF9C2037CC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14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27CA7541-E682-A91E-33F6-898F29FD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FD2FE905-F8D9-1BEB-D3DF-A32AF89788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473666"/>
            <a:ext cx="6237956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MONAI EXTERNO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4.479 imagens externas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114300" indent="0">
              <a:buNone/>
            </a:pPr>
            <a:r>
              <a:rPr sz="1400"/>
              <a:t>3.534 pseudomáscaras candidatas</a:t>
            </a:r>
          </a:p>
          <a:p xmlns:a="http://schemas.openxmlformats.org/drawingml/2006/main">
            <a:pPr marL="114300" indent="0">
              <a:buNone/>
            </a:pPr>
            <a:r>
              <a:t>Revisão humana pendente</a:t>
            </a:r>
            <a:endParaRPr sz="1400"/>
          </a:p>
          <a:p xmlns:a="http://schemas.openxmlformats.org/drawingml/2006/main">
            <a:pPr marL="114300" indent="0">
              <a:buNone/>
            </a:pPr>
            <a:r>
              <a:rPr sz="1400"/>
              <a:t>Fora das métricas manuais</a:t>
            </a:r>
          </a:p>
        </p:txBody>
      </p:sp>
      <p:pic>
        <p:nvPicPr>
          <p:cNvPr id="128" name="Imagem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4f44f815d42d7"/>
          <a:srcRect xmlns:a="http://schemas.openxmlformats.org/drawingml/2006/main" l="70549" t="563" r="-1179" b="-5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107" y="1280495"/>
            <a:ext cx="1835888" cy="35785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066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D0D2D3">
            <a:alpha val="30259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38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61a5e28644f3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39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561a5e28644f3b">
            <a:alphaModFix amt="20000"/>
          </a:blip>
          <a:srcRect xmlns:a="http://schemas.openxmlformats.org/drawingml/2006/main" l="0" t="0" r="28765" b="0"/>
          <a:stretch xmlns:a="http://schemas.openxmlformats.org/drawingml/2006/main"/>
        </p:blipFill>
        <p:spPr>
          <a:xfrm xmlns:a="http://schemas.openxmlformats.org/drawingml/2006/main">
            <a:off x="4514026" y="1456426"/>
            <a:ext cx="4427677" cy="25649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0" name="Google Shape;140;p19">
            <a:extLst xmlns:a="http://schemas.openxmlformats.org/drawingml/2006/main">
              <a:ext uri="{FF2B5EF4-FFF2-40B4-BE49-F238E27FC236}">
                <a16:creationId xmlns:a16="http://schemas.microsoft.com/office/drawing/2014/main" id="{5457B699-2174-40CE-C846-88B577F1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16BA1AF3-FE03-24F7-7A47-DFE176AB61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15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1D306385-FCB5-1E4A-A7E1-D8C5B4FB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2" y="2248500"/>
            <a:ext cx="5942100" cy="1631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Resultados da cápsula</a:t>
            </a:r>
          </a:p>
          <a:p xmlns:a="http://schemas.openxmlformats.org/drawingml/2006/main">
            <a:endParaRPr sz="3200" b="1">
              <a:solidFill>
                <a:srgbClr val="0C5C7C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43" name="Google Shape;143;p19">
            <a:extLst xmlns:a="http://schemas.openxmlformats.org/drawingml/2006/main">
              <a:ext uri="{FF2B5EF4-FFF2-40B4-BE49-F238E27FC236}">
                <a16:creationId xmlns:a16="http://schemas.microsoft.com/office/drawing/2014/main" id="{75187608-9BB9-B8C8-7E66-912F6A04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45" y="2938851"/>
            <a:ext cx="4280700" cy="461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C5C7C"/>
                </a:solidFill>
                <a:latin typeface="Play"/>
                <a:ea typeface="Play"/>
                <a:cs typeface="Play"/>
              </a:rPr>
              <a:t>Seleção do segmentador renal. </a:t>
            </a:r>
          </a:p>
        </p:txBody>
      </p:sp>
      <p:sp>
        <p:nvSpPr>
          <p:cNvPr id="144" name="Google Shape;144;p19">
            <a:extLst xmlns:a="http://schemas.openxmlformats.org/drawingml/2006/main">
              <a:ext uri="{FF2B5EF4-FFF2-40B4-BE49-F238E27FC236}">
                <a16:creationId xmlns:a16="http://schemas.microsoft.com/office/drawing/2014/main" id="{7F8B0DE8-E84B-CCE1-37D9-81461019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10" y="1942156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>
            <a:extLst xmlns:a="http://schemas.openxmlformats.org/drawingml/2006/main">
              <a:ext uri="{FF2B5EF4-FFF2-40B4-BE49-F238E27FC236}">
                <a16:creationId xmlns:a16="http://schemas.microsoft.com/office/drawing/2014/main" id="{B53525B1-39A4-3121-7134-EACDB054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94" y="677474"/>
            <a:ext cx="4280700" cy="14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0</a:t>
            </a:r>
            <a:r>
              <a:rPr sz="8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4</a:t>
            </a:r>
            <a:endParaRPr sz="82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397618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AB39202C-EB18-47BD-98DC-563BDE251F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U-Net lidera a segmentação da cápsula</a:t>
            </a:r>
          </a:p>
        </p:txBody>
      </p:sp>
      <p:pic>
        <p:nvPicPr>
          <p:cNvPr id="135" name="Google Shape;127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ff930879c4d4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DAAB4BC5-1048-4849-8393-00A3B802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 xmlns:a="http://schemas.openxmlformats.org/drawingml/2006/main">
              <a:ext uri="{FF2B5EF4-FFF2-40B4-BE49-F238E27FC236}">
                <a16:creationId xmlns:a16="http://schemas.microsoft.com/office/drawing/2014/main" id="{50DF9137-79DE-4382-97BF-5AB470A2D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16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BB6F62CF-4E6C-46BE-8D96-A4F1AD12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>
            <a:extLst xmlns:a="http://schemas.openxmlformats.org/drawingml/2006/main">
              <a:ext uri="{FF2B5EF4-FFF2-40B4-BE49-F238E27FC236}">
                <a16:creationId xmlns:a16="http://schemas.microsoft.com/office/drawing/2014/main" id="{7679C2EE-B596-42A9-85CF-578632DB32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7797" y="1460100"/>
            <a:ext cx="3445136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TESTE DEDUPLICADO</a:t>
            </a:r>
            <a:endParaRPr sz="1300">
              <a:solidFill>
                <a:srgbClr val="5E5E5E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70 imagens</a:t>
            </a:r>
            <a:endParaRPr sz="1300">
              <a:solidFill>
                <a:srgbClr val="5E5E5E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Dice 0,9290 | IoU 0,8722</a:t>
            </a:r>
            <a:endParaRPr sz="1300">
              <a:solidFill>
                <a:srgbClr val="5E5E5E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U-Net selecionada para a cascata</a:t>
            </a:r>
            <a:endParaRPr sz="130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Imagem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680a08add496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75051" y="1519411"/>
            <a:ext cx="4681851" cy="24304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71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F26A7612-96E0-1793-3E45-72DD04330A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U-Net lidera a segmentação da cápsula</a:t>
            </a:r>
          </a:p>
        </p:txBody>
      </p:sp>
      <p:pic>
        <p:nvPicPr>
          <p:cNvPr id="136" name="Google Shape;127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9b7cdc9e5477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C2DE41B8-91E6-FD92-B1D9-2445C905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 xmlns:a="http://schemas.openxmlformats.org/drawingml/2006/main">
              <a:ext uri="{FF2B5EF4-FFF2-40B4-BE49-F238E27FC236}">
                <a16:creationId xmlns:a16="http://schemas.microsoft.com/office/drawing/2014/main" id="{B9436D90-5E46-B3AC-C768-BB86A8EE64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17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BE7CEC81-6452-39BF-6CFC-4FAD4B69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>
            <a:extLst xmlns:a="http://schemas.openxmlformats.org/drawingml/2006/main">
              <a:ext uri="{FF2B5EF4-FFF2-40B4-BE49-F238E27FC236}">
                <a16:creationId xmlns:a16="http://schemas.microsoft.com/office/drawing/2014/main" id="{4C76FEE9-15BC-41C7-A7E8-0D24C7B8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1442670"/>
            <a:ext cx="3473491" cy="3508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Font typeface="Arial"/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COMPARAÇÃO</a:t>
            </a:r>
            <a:endParaRPr sz="1300" kern="0">
              <a:solidFill>
                <a:srgbClr val="5E5E5E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Maior Dice: U-Net (0,9290)</a:t>
            </a:r>
            <a:endParaRPr sz="1300" kern="0">
              <a:solidFill>
                <a:srgbClr val="5E5E5E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SegFormer-B0: 31,34 FPS</a:t>
            </a:r>
            <a:endParaRPr sz="1300" kern="0">
              <a:solidFill>
                <a:srgbClr val="5E5E5E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Critério: concordância espacial</a:t>
            </a:r>
            <a:endParaRPr sz="1300" kern="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1" name="Imagem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75038834a4d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7863" y="1545122"/>
            <a:ext cx="4945357" cy="27581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664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D0D2D3">
            <a:alpha val="30259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38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d32992a37461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39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9d32992a37461f">
            <a:alphaModFix amt="20000"/>
          </a:blip>
          <a:srcRect xmlns:a="http://schemas.openxmlformats.org/drawingml/2006/main" l="0" t="0" r="28765" b="0"/>
          <a:stretch xmlns:a="http://schemas.openxmlformats.org/drawingml/2006/main"/>
        </p:blipFill>
        <p:spPr>
          <a:xfrm xmlns:a="http://schemas.openxmlformats.org/drawingml/2006/main">
            <a:off x="4514026" y="1456426"/>
            <a:ext cx="4427677" cy="25649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0" name="Google Shape;140;p19">
            <a:extLst xmlns:a="http://schemas.openxmlformats.org/drawingml/2006/main">
              <a:ext uri="{FF2B5EF4-FFF2-40B4-BE49-F238E27FC236}">
                <a16:creationId xmlns:a16="http://schemas.microsoft.com/office/drawing/2014/main" id="{FB189651-C990-A05C-5CF8-75A7EF41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43DD3CBE-67EA-9DA8-F6A7-031AAE143F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18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130865FF-4097-5427-E3C2-28E6CA66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2" y="2248500"/>
            <a:ext cx="5942100" cy="677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Consenso e regiões internas</a:t>
            </a:r>
          </a:p>
        </p:txBody>
      </p:sp>
      <p:sp>
        <p:nvSpPr>
          <p:cNvPr id="143" name="Google Shape;143;p19">
            <a:extLst xmlns:a="http://schemas.openxmlformats.org/drawingml/2006/main">
              <a:ext uri="{FF2B5EF4-FFF2-40B4-BE49-F238E27FC236}">
                <a16:creationId xmlns:a16="http://schemas.microsoft.com/office/drawing/2014/main" id="{505DA1B8-E3A4-0753-D605-BCBA7E33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45" y="2938851"/>
            <a:ext cx="4280700" cy="461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C5C7C"/>
                </a:solidFill>
                <a:latin typeface="Play"/>
                <a:ea typeface="Play"/>
                <a:cs typeface="Play"/>
              </a:rPr>
              <a:t>Triagem e segmentação </a:t>
            </a:r>
            <a:r>
              <a:rPr>
                <a:solidFill>
                  <a:srgbClr val="0C5C7C"/>
                </a:solidFill>
                <a:latin typeface="Play"/>
                <a:ea typeface="Play"/>
                <a:cs typeface="Play"/>
              </a:rPr>
              <a:t>multiclasse</a:t>
            </a:r>
            <a:r>
              <a:rPr>
                <a:solidFill>
                  <a:srgbClr val="0C5C7C"/>
                </a:solidFill>
                <a:latin typeface="Play"/>
                <a:ea typeface="Play"/>
                <a:cs typeface="Play"/>
              </a:rPr>
              <a:t>. </a:t>
            </a:r>
          </a:p>
        </p:txBody>
      </p:sp>
      <p:sp>
        <p:nvSpPr>
          <p:cNvPr id="144" name="Google Shape;144;p19">
            <a:extLst xmlns:a="http://schemas.openxmlformats.org/drawingml/2006/main">
              <a:ext uri="{FF2B5EF4-FFF2-40B4-BE49-F238E27FC236}">
                <a16:creationId xmlns:a16="http://schemas.microsoft.com/office/drawing/2014/main" id="{D502E0EF-D458-D166-0D86-DCE796FF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10" y="1942156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>
            <a:extLst xmlns:a="http://schemas.openxmlformats.org/drawingml/2006/main">
              <a:ext uri="{FF2B5EF4-FFF2-40B4-BE49-F238E27FC236}">
                <a16:creationId xmlns:a16="http://schemas.microsoft.com/office/drawing/2014/main" id="{13B163AF-B24D-4881-0D1E-F32D5A0D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94" y="677474"/>
            <a:ext cx="4280700" cy="14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0</a:t>
            </a:r>
            <a:r>
              <a:rPr sz="8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5</a:t>
            </a:r>
            <a:endParaRPr sz="82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224196229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AB39202C-EB18-47BD-98DC-563BDE251F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Consenso prioriza a revisão das pseudomáscaras</a:t>
            </a:r>
          </a:p>
        </p:txBody>
      </p:sp>
      <p:pic>
        <p:nvPicPr>
          <p:cNvPr id="135" name="Google Shape;127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ad5be7089427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DAAB4BC5-1048-4849-8393-00A3B802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 xmlns:a="http://schemas.openxmlformats.org/drawingml/2006/main">
              <a:ext uri="{FF2B5EF4-FFF2-40B4-BE49-F238E27FC236}">
                <a16:creationId xmlns:a16="http://schemas.microsoft.com/office/drawing/2014/main" id="{50DF9137-79DE-4382-97BF-5AB470A2D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19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BB6F62CF-4E6C-46BE-8D96-A4F1AD12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>
            <a:extLst xmlns:a="http://schemas.openxmlformats.org/drawingml/2006/main">
              <a:ext uri="{FF2B5EF4-FFF2-40B4-BE49-F238E27FC236}">
                <a16:creationId xmlns:a16="http://schemas.microsoft.com/office/drawing/2014/main" id="{7679C2EE-B596-42A9-85CF-578632DB32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699" y="1473666"/>
            <a:ext cx="3402608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CALIBRAÇÃO</a:t>
            </a: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468 imagens manuais</a:t>
            </a:r>
            <a:endParaRPr sz="1300">
              <a:solidFill>
                <a:srgbClr val="5E5E5E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Consenso médio: 0,9416</a:t>
            </a:r>
            <a:endParaRPr sz="1300">
              <a:solidFill>
                <a:srgbClr val="5E5E5E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Alta | intermediária | baixa</a:t>
            </a:r>
            <a:endParaRPr sz="1300">
              <a:solidFill>
                <a:srgbClr val="5E5E5E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sz="1400"/>
              <a:t>• Prioriza a revisão humana</a:t>
            </a:r>
            <a:endParaRPr sz="130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Imagem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120ecb52645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77340" y="1224862"/>
            <a:ext cx="4909985" cy="31665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71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9FEFF56A-A282-2660-9AAC-FD4EE36318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7478421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Triagem externa prioriza revisões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36" name="Google Shape;127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4bd3d62644c6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48799DB6-365C-78B5-34BD-CDCF94E9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 xmlns:a="http://schemas.openxmlformats.org/drawingml/2006/main">
              <a:ext uri="{FF2B5EF4-FFF2-40B4-BE49-F238E27FC236}">
                <a16:creationId xmlns:a16="http://schemas.microsoft.com/office/drawing/2014/main" id="{63A33509-B988-47A5-66BE-C5B40612FB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20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EB89C214-0516-A4FF-4ED1-3E6FD60C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>
            <a:extLst xmlns:a="http://schemas.openxmlformats.org/drawingml/2006/main">
              <a:ext uri="{FF2B5EF4-FFF2-40B4-BE49-F238E27FC236}">
                <a16:creationId xmlns:a16="http://schemas.microsoft.com/office/drawing/2014/main" id="{4C76FEE9-15BC-41C7-A7E8-0D24C7B84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442671"/>
            <a:ext cx="3360077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114300" indent="0">
              <a:buNone/>
            </a:pPr>
            <a:r>
              <a:t>TRIAGEM EXTERNA</a:t>
            </a:r>
          </a:p>
          <a:p xmlns:a="http://schemas.openxmlformats.org/drawingml/2006/main">
            <a:r>
              <a:t>4.479 imagens estratificadas</a:t>
            </a:r>
            <a:endParaRPr/>
          </a:p>
          <a:p xmlns:a="http://schemas.openxmlformats.org/drawingml/2006/main">
            <a:pPr marL="114300" indent="0">
              <a:buNone/>
            </a:pPr>
            <a:r>
              <a:rPr b="1"/>
              <a:t>Baixa concordância: revisão prioritária</a:t>
            </a:r>
          </a:p>
          <a:p xmlns:a="http://schemas.openxmlformats.org/drawingml/2006/main">
            <a:pPr marL="114300" indent="0">
              <a:buNone/>
            </a:pPr>
            <a:r>
              <a:rPr b="1"/>
              <a:t>Consenso ≠ acurácia externa</a:t>
            </a:r>
          </a:p>
        </p:txBody>
      </p:sp>
      <p:pic>
        <p:nvPicPr>
          <p:cNvPr id="141" name="Imagem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4b09d77bb43a8"/>
          <a:srcRect xmlns:a="http://schemas.openxmlformats.org/drawingml/2006/main" l="0" t="10685" r="0" b="-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82275" y="1442671"/>
            <a:ext cx="4750025" cy="28422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2467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AB39202C-EB18-47BD-98DC-563BDE251F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R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esultado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intrarrenal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34" name="Google Shape;127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94e1ecf8d4eb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DAAB4BC5-1048-4849-8393-00A3B802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 xmlns:a="http://schemas.openxmlformats.org/drawingml/2006/main">
              <a:ext uri="{FF2B5EF4-FFF2-40B4-BE49-F238E27FC236}">
                <a16:creationId xmlns:a16="http://schemas.microsoft.com/office/drawing/2014/main" id="{50DF9137-79DE-4382-97BF-5AB470A2D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21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BB6F62CF-4E6C-46BE-8D96-A4F1AD12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Espaço Reservado para Texto 5">
            <a:extLst xmlns:a="http://schemas.openxmlformats.org/drawingml/2006/main">
              <a:ext uri="{FF2B5EF4-FFF2-40B4-BE49-F238E27FC236}">
                <a16:creationId xmlns:a16="http://schemas.microsoft.com/office/drawing/2014/main" id="{B752200B-8C13-9D32-1068-1DDB8FB9A5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5862272" cy="3416400"/>
          </a:xfrm>
        </p:spPr>
        <p:txBody>
          <a:bodyPr xmlns:a="http://schemas.openxmlformats.org/drawingml/2006/main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114300" indent="0">
              <a:buNone/>
            </a:pPr>
            <a:r>
              <a:t>RESULTADO INTRARRENAL</a:t>
            </a:r>
          </a:p>
          <a:p xmlns:a="http://schemas.openxmlformats.org/drawingml/2006/main">
            <a:pPr marL="114300" indent="0">
              <a:buNone/>
            </a:pPr>
            <a:r>
              <a:t>• ROI: cápsula renal</a:t>
            </a:r>
            <a:endParaRPr/>
          </a:p>
          <a:p xmlns:a="http://schemas.openxmlformats.org/drawingml/2006/main">
            <a:pPr marL="114300" indent="0">
              <a:buNone/>
            </a:pPr>
            <a:r>
              <a:t>• Córtex | medula | CEC</a:t>
            </a:r>
          </a:p>
          <a:p xmlns:a="http://schemas.openxmlformats.org/drawingml/2006/main">
            <a:pPr marL="114300" indent="0">
              <a:buNone/>
            </a:pPr>
            <a:r>
              <a:t>• U-Net: Dice médio 0,7594</a:t>
            </a:r>
            <a:endParaRPr/>
          </a:p>
          <a:p xmlns:a="http://schemas.openxmlformats.org/drawingml/2006/main">
            <a:pPr marL="114300" indent="0">
              <a:buNone/>
            </a:pPr>
            <a:r>
              <a:t>• Melhor em córtex e medula</a:t>
            </a:r>
          </a:p>
        </p:txBody>
      </p:sp>
      <p:pic>
        <p:nvPicPr>
          <p:cNvPr id="139" name="Imagem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a3660c39a4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202" y="977728"/>
            <a:ext cx="2394098" cy="35911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71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AB39202C-EB18-47BD-98DC-563BDE251F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Qualidade de imagem limita a cascata</a:t>
            </a:r>
          </a:p>
        </p:txBody>
      </p:sp>
      <p:pic>
        <p:nvPicPr>
          <p:cNvPr id="135" name="Google Shape;127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ebe5e64d948c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DAAB4BC5-1048-4849-8393-00A3B802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 xmlns:a="http://schemas.openxmlformats.org/drawingml/2006/main">
              <a:ext uri="{FF2B5EF4-FFF2-40B4-BE49-F238E27FC236}">
                <a16:creationId xmlns:a16="http://schemas.microsoft.com/office/drawing/2014/main" id="{50DF9137-79DE-4382-97BF-5AB470A2D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22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BB6F62CF-4E6C-46BE-8D96-A4F1AD12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>
            <a:extLst xmlns:a="http://schemas.openxmlformats.org/drawingml/2006/main">
              <a:ext uri="{FF2B5EF4-FFF2-40B4-BE49-F238E27FC236}">
                <a16:creationId xmlns:a16="http://schemas.microsoft.com/office/drawing/2014/main" id="{7679C2EE-B596-42A9-85CF-578632DB32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699" y="1473666"/>
            <a:ext cx="5848095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14300" indent="0">
              <a:buNone/>
            </a:pPr>
            <a:r>
              <a:rPr sz="1700"/>
              <a:t>LIMITE DA CASCATA</a:t>
            </a:r>
          </a:p>
          <a:p xmlns:a="http://schemas.openxmlformats.org/drawingml/2006/main">
            <a:pPr marL="114300" indent="0">
              <a:buNone/>
            </a:pPr>
            <a:r>
              <a:t>• Baixo contraste</a:t>
            </a:r>
            <a:endParaRPr sz="1700"/>
          </a:p>
          <a:p xmlns:a="http://schemas.openxmlformats.org/drawingml/2006/main">
            <a:pPr marL="114300" indent="0">
              <a:buNone/>
            </a:pPr>
            <a:r>
              <a:rPr sz="1700"/>
              <a:t>• Sombras acústicas e ruído</a:t>
            </a:r>
          </a:p>
          <a:p xmlns:a="http://schemas.openxmlformats.org/drawingml/2006/main">
            <a:pPr marL="114300" indent="0">
              <a:buNone/>
            </a:pPr>
            <a:r>
              <a:rPr sz="1700"/>
              <a:t>• Máscara incompleta compromete a ROI</a:t>
            </a:r>
          </a:p>
        </p:txBody>
      </p:sp>
      <p:pic>
        <p:nvPicPr>
          <p:cNvPr id="140" name="Imagem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fdd9c962e49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976" y="857129"/>
            <a:ext cx="2635745" cy="38568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71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D0D2D3">
            <a:alpha val="30259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38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3dee4c4a1420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39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83dee4c4a14207">
            <a:alphaModFix amt="20000"/>
          </a:blip>
          <a:srcRect xmlns:a="http://schemas.openxmlformats.org/drawingml/2006/main" l="0" t="0" r="28765" b="0"/>
          <a:stretch xmlns:a="http://schemas.openxmlformats.org/drawingml/2006/main"/>
        </p:blipFill>
        <p:spPr>
          <a:xfrm xmlns:a="http://schemas.openxmlformats.org/drawingml/2006/main">
            <a:off x="4514026" y="1456426"/>
            <a:ext cx="4427677" cy="25649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0" name="Google Shape;140;p19">
            <a:extLst xmlns:a="http://schemas.openxmlformats.org/drawingml/2006/main">
              <a:ext uri="{FF2B5EF4-FFF2-40B4-BE49-F238E27FC236}">
                <a16:creationId xmlns:a16="http://schemas.microsoft.com/office/drawing/2014/main" id="{B1D72195-C9F8-19AF-43B3-F6802EE6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E3D7E922-6973-62DF-743D-25EA0DAB27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23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2972C016-E746-1BCD-B0BF-149CD70C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2" y="2248500"/>
            <a:ext cx="5942100" cy="677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lvl="0">
              <a:buClr>
                <a:srgbClr val="000000"/>
              </a:buClr>
              <a:buSzPts val="1100"/>
              <a:buNone/>
            </a:pPr>
            <a:r>
              <a:rPr sz="32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Conclusões</a:t>
            </a:r>
          </a:p>
        </p:txBody>
      </p:sp>
      <p:sp>
        <p:nvSpPr>
          <p:cNvPr id="143" name="Google Shape;143;p19">
            <a:extLst xmlns:a="http://schemas.openxmlformats.org/drawingml/2006/main">
              <a:ext uri="{FF2B5EF4-FFF2-40B4-BE49-F238E27FC236}">
                <a16:creationId xmlns:a16="http://schemas.microsoft.com/office/drawing/2014/main" id="{5F8BF583-AAF4-244A-53FA-5C068801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45" y="2938851"/>
            <a:ext cx="4280700" cy="461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C5C7C"/>
                </a:solidFill>
                <a:latin typeface="Play"/>
                <a:ea typeface="Play"/>
                <a:cs typeface="Play"/>
              </a:rPr>
              <a:t>Limites e próximos passos. </a:t>
            </a:r>
          </a:p>
        </p:txBody>
      </p:sp>
      <p:sp>
        <p:nvSpPr>
          <p:cNvPr id="144" name="Google Shape;144;p19">
            <a:extLst xmlns:a="http://schemas.openxmlformats.org/drawingml/2006/main">
              <a:ext uri="{FF2B5EF4-FFF2-40B4-BE49-F238E27FC236}">
                <a16:creationId xmlns:a16="http://schemas.microsoft.com/office/drawing/2014/main" id="{31FCE5CB-1D86-79BE-1F1F-F4907AE7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10" y="1942156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>
            <a:extLst xmlns:a="http://schemas.openxmlformats.org/drawingml/2006/main">
              <a:ext uri="{FF2B5EF4-FFF2-40B4-BE49-F238E27FC236}">
                <a16:creationId xmlns:a16="http://schemas.microsoft.com/office/drawing/2014/main" id="{DE769A1C-A593-4189-37A4-714E8178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94" y="677474"/>
            <a:ext cx="4280700" cy="14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0</a:t>
            </a:r>
            <a:r>
              <a:rPr sz="8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6</a:t>
            </a:r>
            <a:endParaRPr sz="82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45975814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Google Shape;160;p21">
            <a:extLst xmlns:a="http://schemas.openxmlformats.org/drawingml/2006/main">
              <a:ext uri="{FF2B5EF4-FFF2-40B4-BE49-F238E27FC236}">
                <a16:creationId xmlns:a16="http://schemas.microsoft.com/office/drawing/2014/main" id="{D4636B13-6D85-47EF-B293-F4A1F1B00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84429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Conclusão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: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uma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cascata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rastreável</a:t>
            </a: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 para análise renal</a:t>
            </a:r>
            <a:endParaRPr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68" name="Google Shape;161;p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d685c4d934be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2" name="Google Shape;162;p21">
            <a:extLst xmlns:a="http://schemas.openxmlformats.org/drawingml/2006/main">
              <a:ext uri="{FF2B5EF4-FFF2-40B4-BE49-F238E27FC236}">
                <a16:creationId xmlns:a16="http://schemas.microsoft.com/office/drawing/2014/main" id="{E16404EC-43DB-4833-A406-45180DF1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1">
            <a:extLst xmlns:a="http://schemas.openxmlformats.org/drawingml/2006/main">
              <a:ext uri="{FF2B5EF4-FFF2-40B4-BE49-F238E27FC236}">
                <a16:creationId xmlns:a16="http://schemas.microsoft.com/office/drawing/2014/main" id="{7CD7D9AF-272B-45C6-BF0C-E45C7073C0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24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64" name="Google Shape;164;p21">
            <a:extLst xmlns:a="http://schemas.openxmlformats.org/drawingml/2006/main">
              <a:ext uri="{FF2B5EF4-FFF2-40B4-BE49-F238E27FC236}">
                <a16:creationId xmlns:a16="http://schemas.microsoft.com/office/drawing/2014/main" id="{8CD78DD7-6950-482F-B930-06F1ED78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7" y="1169929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1">
            <a:extLst xmlns:a="http://schemas.openxmlformats.org/drawingml/2006/main">
              <a:ext uri="{FF2B5EF4-FFF2-40B4-BE49-F238E27FC236}">
                <a16:creationId xmlns:a16="http://schemas.microsoft.com/office/drawing/2014/main" id="{55733856-E769-476E-B378-BA85A09262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5183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114300" indent="0">
              <a:buNone/>
            </a:pPr>
            <a:r>
              <a:t>• Cápsula: U-Net com Dice 0,9290</a:t>
            </a:r>
          </a:p>
          <a:p xmlns:a="http://schemas.openxmlformats.org/drawingml/2006/main">
            <a:pPr marL="114300" indent="0">
              <a:buNone/>
            </a:pPr>
            <a:r>
              <a:t>• Consenso organizou 3.534 pseudomáscaras</a:t>
            </a:r>
            <a:endParaRPr/>
          </a:p>
          <a:p xmlns:a="http://schemas.openxmlformats.org/drawingml/2006/main">
            <a:pPr marL="114300" indent="0">
              <a:buNone/>
            </a:pPr>
            <a:r>
              <a:t>• Intrarrenal: Dice médio 0,7594</a:t>
            </a:r>
          </a:p>
          <a:p xmlns:a="http://schemas.openxmlformats.org/drawingml/2006/main">
            <a:pPr marL="114300" indent="0">
              <a:buNone/>
            </a:pPr>
            <a:r>
              <a:t>• Próximo passo: revisão clínica e referência histológica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752184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D0D2D3">
            <a:alpha val="30259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0" name="Google Shape;170;p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265ed10314b5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8821" y="161270"/>
            <a:ext cx="1250900" cy="5162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1" name="Google Shape;171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1265ed10314b5d">
            <a:alphaModFix amt="20000"/>
          </a:blip>
          <a:srcRect xmlns:a="http://schemas.openxmlformats.org/drawingml/2006/main" l="0" t="0" r="28765" b="0"/>
          <a:stretch xmlns:a="http://schemas.openxmlformats.org/drawingml/2006/main"/>
        </p:blipFill>
        <p:spPr>
          <a:xfrm xmlns:a="http://schemas.openxmlformats.org/drawingml/2006/main">
            <a:off x="4514026" y="1456426"/>
            <a:ext cx="4427677" cy="25649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2" name="Google Shape;172;p22">
            <a:extLst xmlns:a="http://schemas.openxmlformats.org/drawingml/2006/main">
              <a:ext uri="{FF2B5EF4-FFF2-40B4-BE49-F238E27FC236}">
                <a16:creationId xmlns:a16="http://schemas.microsoft.com/office/drawing/2014/main" id="{12208A22-5457-43CB-8B2C-5C64900A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1650"/>
            <a:ext cx="91440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C7C"/>
          </a:solidFill>
          <a:ln xmlns:a="http://schemas.openxmlformats.org/drawingml/2006/main"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2">
            <a:extLst xmlns:a="http://schemas.openxmlformats.org/drawingml/2006/main">
              <a:ext uri="{FF2B5EF4-FFF2-40B4-BE49-F238E27FC236}">
                <a16:creationId xmlns:a16="http://schemas.microsoft.com/office/drawing/2014/main" id="{FEB0AE3B-5C6B-4A20-99D4-5B6586D1B9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12975" y="4876500"/>
            <a:ext cx="548700" cy="34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25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74" name="Google Shape;174;p22">
            <a:extLst xmlns:a="http://schemas.openxmlformats.org/drawingml/2006/main">
              <a:ext uri="{FF2B5EF4-FFF2-40B4-BE49-F238E27FC236}">
                <a16:creationId xmlns:a16="http://schemas.microsoft.com/office/drawing/2014/main" id="{28589C5B-8F70-41D2-9CF4-680C4E6E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10" y="2346406"/>
            <a:ext cx="900000" cy="2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462"/>
          </a:solidFill>
          <a:ln xmlns:a="http://schemas.openxmlformats.org/drawingml/2006/main"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2">
            <a:extLst xmlns:a="http://schemas.openxmlformats.org/drawingml/2006/main">
              <a:ext uri="{FF2B5EF4-FFF2-40B4-BE49-F238E27FC236}">
                <a16:creationId xmlns:a16="http://schemas.microsoft.com/office/drawing/2014/main" id="{6ED688E7-CA11-4D71-A1F2-90A89E90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03" y="1171775"/>
            <a:ext cx="68448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8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OBRIGADO!</a:t>
            </a:r>
            <a:endParaRPr sz="60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76" name="Google Shape;176;p22">
            <a:extLst xmlns:a="http://schemas.openxmlformats.org/drawingml/2006/main">
              <a:ext uri="{FF2B5EF4-FFF2-40B4-BE49-F238E27FC236}">
                <a16:creationId xmlns:a16="http://schemas.microsoft.com/office/drawing/2014/main" id="{E7F982C2-8D5B-41BD-9966-99BB6414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94" y="2538826"/>
            <a:ext cx="4280700" cy="82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0C5C7C"/>
                </a:solidFill>
                <a:latin typeface="Lato"/>
                <a:ea typeface="Lato"/>
                <a:cs typeface="Lato"/>
              </a:rPr>
              <a:t>jefferson.anjos.1@aluno.cefet-rj.br</a:t>
            </a: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0C5C7C"/>
                </a:solidFill>
                <a:latin typeface="Lato"/>
                <a:ea typeface="Lato"/>
                <a:cs typeface="Lato"/>
              </a:rPr>
              <a:t>CEFET/RJ</a:t>
            </a:r>
          </a:p>
        </p:txBody>
      </p:sp>
      <p:sp>
        <p:nvSpPr>
          <p:cNvPr id="177" name="Google Shape;177;p22">
            <a:extLst xmlns:a="http://schemas.openxmlformats.org/drawingml/2006/main">
              <a:ext uri="{FF2B5EF4-FFF2-40B4-BE49-F238E27FC236}">
                <a16:creationId xmlns:a16="http://schemas.microsoft.com/office/drawing/2014/main" id="{BB1806AA-87F9-44C5-8EE0-45864019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47" y="3833084"/>
            <a:ext cx="5460900" cy="54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C5C7C"/>
                </a:solidFill>
                <a:latin typeface="Play"/>
                <a:ea typeface="Play"/>
                <a:cs typeface="Play"/>
              </a:rPr>
              <a:t>Apoio: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C5C7C"/>
                </a:solidFill>
                <a:latin typeface="Play"/>
                <a:ea typeface="Play"/>
                <a:cs typeface="Play"/>
              </a:rPr>
              <a:t>CEFET/RJ e HUPE - UERJ</a:t>
            </a:r>
          </a:p>
        </p:txBody>
      </p:sp>
    </p:spTree>
    <p:extLst>
      <p:ext uri="{BB962C8B-B14F-4D97-AF65-F5344CB8AC3E}">
        <p14:creationId xmlns:p14="http://schemas.microsoft.com/office/powerpoint/2010/main" val="134879567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2026-08-28T00:31:42.9780000Z</dcterms:created>
  <dcterms:modified xsi:type="dcterms:W3CDTF">2026-08-28T00:31:42.9780000Z</dcterms:modified>
</coreProperties>
</file>