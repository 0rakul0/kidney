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9" r:id="rId6"/>
    <p:sldId id="270" r:id="rId7"/>
    <p:sldId id="260" r:id="rId8"/>
    <p:sldId id="261" r:id="rId9"/>
    <p:sldId id="272" r:id="rId10"/>
    <p:sldId id="273" r:id="rId11"/>
    <p:sldId id="277" r:id="rId12"/>
    <p:sldId id="262" r:id="rId13"/>
    <p:sldId id="275" r:id="rId14"/>
    <p:sldId id="276" r:id="rId15"/>
    <p:sldId id="278" r:id="rId16"/>
    <p:sldId id="263" r:id="rId17"/>
    <p:sldId id="281" r:id="rId18"/>
    <p:sldId id="279" r:id="rId19"/>
    <p:sldId id="264" r:id="rId20"/>
    <p:sldId id="282" r:id="rId21"/>
    <p:sldId id="265" r:id="rId22"/>
    <p:sldId id="266" r:id="rId23"/>
    <p:sldId id="280" r:id="rId24"/>
    <p:sldId id="267" r:id="rId25"/>
    <p:sldId id="268" r:id="rId26"/>
  </p:sldIdLst>
  <p:sldSz cx="9144000" cy="5143500" type="screen16x9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Apresente o problema: transformar inspeção visual subjetiva em um processo computacional rastreável.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Antecipe a sequência: do desafio clínico-operacional ao resultado e às limitações.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Faça a transição do cenário da ultrassonografia para a pergunta que o pipeline responde.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Destaque que a proposta não diagnostica doença: ela organiza e restringe a análise à anatomia renal.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98F6-A013-A3DB-7C30-6B6121E6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03491-9146-CF47-C97D-81AA118FB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BE880-253F-691B-41D3-5CC82A601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Destaque que a proposta não diagnostica doença: ela organiza e restringe a análise à anatomia renal.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5A25-8389-5207-3738-E868BA420FD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0811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384E7-B750-94FE-581F-9581DF49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A36DF-629F-4F91-6BC5-66F481F6A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D199A-ABCF-7B40-C984-08BBA9DEC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Destaque que a proposta não diagnostica doença: ela organiza e restringe a análise à anatomia renal.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1480A-000C-DC8F-CBB4-6EC71BB646F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8887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que cada etapa reduz a região de interesse e torna a seguinte mais específica.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9ED3-341A-A08D-6537-A947DE7EB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0C104-F4C4-E083-36B0-0F7DB79D4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B2FA7-DE42-98D0-8B77-80D2F8837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que cada etapa reduz a região de interesse e torna a seguinte mais específica.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C3171-5EA6-754D-4563-438D8225CE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1298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CC4D-1AAC-E4ED-E4F6-4D8B95F8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5D1BA-F125-5DA2-633B-5A21A8C86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DFAAD-4883-789D-2382-EC0742B1E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que cada etapa reduz a região de interesse e torna a seguinte mais específica.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57D15-D016-2441-2994-A1CEF846A16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4250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EE080-D6D8-28B9-78F3-20F9B59E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F8328-1B01-C495-06C5-D9AD4B4A4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77149-9436-8EF3-A79A-06624BFA8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F62E6-8CF9-642F-F1B8-41BFD0FA3B2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1215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por que o conjunto externo não entra nas métricas: ele não possui anotação manual no estudo.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266D4-CCB6-DEF9-D73C-813C2019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EB849-14EA-C89F-8E69-8149C1669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98345-175A-F40A-98F0-90E8B5C0E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por que o conjunto externo não entra nas métricas: ele não possui anotação manual no estudo.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86D79-F8D2-BBA1-291F-94E7F032CED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283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5D5C3-9697-192A-E3F9-F8A40A8B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20D27-D2FE-B58B-A446-0F39B16AB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391F0-B9E3-D199-2324-6CDD71CEB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por que o conjunto externo não entra nas métricas: ele não possui anotação manual no estudo.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CB419-6BDE-5EC8-C362-75F9B40A0D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8489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D23C-242C-0367-5876-178A72A9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9D84F-7550-E9BD-9AE8-17D64D11A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74D18-5295-C822-3192-F629FA4BF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D513E-E4AC-3695-7D64-29B0BC7370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97970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Informe que a escolha da U-Net privilegia a sobreposição com a anotação manual; velocidade não foi o único critério.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2E96-F230-193D-9797-2774E9A7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83400-4E91-DB07-ADF9-041063047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A30B5-13B7-94A8-DAD7-CAD699FA5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Informe que a escolha da U-Net privilegia a sobreposição com a anotação manual; velocidade não foi o único critério.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8900F-D066-82ED-F53A-0E8F557817F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26191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B5ACD-F49D-3D42-2E8C-F9A1545AB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CB773-76DA-C6E3-5FAC-AA52B37E5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89962-0F95-4CC2-48F9-45AA20A19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F0600-B09F-F2A5-9382-522CDEE4985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3644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Reforce a distinção: concordância entre arquiteturas prioriza trabalho humano, mas não comprova acerto sem referência manual.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C056-4046-AB90-D5A9-F918331E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FBD4E-CF0E-42D5-7C77-10C7CFE45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05D43-FFD1-D13A-E36E-7CC71E039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Reforce a distinção: concordância entre arquiteturas prioriza trabalho humano, mas não comprova acerto sem referência manual.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04D9C-CF9A-1D9D-83D9-95E23EFC34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9428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Aponte a leitura correta da figura: medula segue a anotação do kidneyUS, não são pirâmides individuais segmentadas.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este slide para explicitar o limite de generalização do conjunto externo.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4851-0833-4B12-F2FC-ADF89F7E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6648A-BFC2-D53E-C7F1-02A42032D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E6667-B471-51D1-DE89-AB8EA4307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Introduza a cascata: cápsula, consenso entre modelos e estruturas intrarrenais.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E1B7E-D64F-62F1-6BE0-576FC0B70B2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4306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Retome a tese: o valor do trabalho é a cadeia auditável de dados, segmentação e priorização, não um diagnóstico automatizado.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Abra para perguntas.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Artigo final do projeto: main.pdf (SBBD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52BFD4A4-2DB6-4B10-8E6A-BFD1292D7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7768016B-9F62-4562-9BE2-090D1A438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0332B700-EEBB-46DE-9A5D-AB69F6C715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084108E0-C07D-41DB-A9BA-7342DB340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CEB08C3A-B145-400F-8E83-D04B930983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56C99AA1-2818-40EA-92F6-A0B0E35F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7AC6CCC7-C0C0-488B-8274-F7E6D501B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CC6C0057-2AF1-4C5F-8FFE-E5368850AA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61FA608F-A5E6-4DFE-AA05-D5CF9084D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A8BC3CE8-BA4C-4D9C-96D8-2E0895C61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4AB86436-30AC-4FB8-9207-6E6A4E4174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2B00B62C-41F9-4A02-90A9-DD881E3F370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2CAD5955-19CA-4035-ACC7-DA2831917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7ED57FE0-7E21-4386-B208-9D8E6CC6229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66454D36-14B8-44B8-98BC-0F0FCF29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B994B8F2-8095-473C-AF34-B453FFB1A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084A036E-8FC6-4A2C-A7BE-0C5A7DD21FD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42C04800-9E0A-4A4C-8EA6-92921E4D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0D71EA49-CF20-4F7D-ADBF-FA5850E9C6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440FF8AD-05C1-401E-A8DA-AEFF7F6B7D7A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29670328-F05B-4546-A740-CB38D28B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87806357-5B9F-4BCD-8ACE-4590EBBE0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822D4F9D-B3A3-43DA-927B-8F8F562A104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1BB1375D-9031-40EC-81A3-3065CE511A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153DF024-0464-4EE4-9CA0-E79225A7A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6DDD3437-A1D0-43A9-8958-CAC1D80EA1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B7E1FC33-B9E0-45E1-BF40-7449D8F59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5E0579CE-85C3-4102-9876-EA3A7BC45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12F6F2A5-4D9E-4918-B872-7D94A46718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BA82413B-F9EC-4960-852F-0E3FEC22F0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C2B05301-3FE5-4FB1-915F-23AE0151E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0255C05F-3A75-479E-A6EB-0144C588F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40B65BE9-403D-4FE9-AEB5-E0A38005CC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68;p1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pic>
        <p:nvPicPr>
          <p:cNvPr id="79" name="Google Shape;69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 r="28765"/>
          <a:stretch/>
        </p:blipFill>
        <p:spPr>
          <a:xfrm>
            <a:off x="4514026" y="1456426"/>
            <a:ext cx="4427677" cy="2564990"/>
          </a:xfrm>
          <a:prstGeom prst="rect">
            <a:avLst/>
          </a:prstGeom>
          <a:ln>
            <a:noFill/>
          </a:ln>
        </p:spPr>
      </p:pic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C915C314-A203-4CDD-8A7F-DB4BF5523AEA}"/>
              </a:ext>
            </a:extLst>
          </p:cNvPr>
          <p:cNvSpPr>
            <a:spLocks noGrp="1"/>
          </p:cNvSpPr>
          <p:nvPr/>
        </p:nvSpPr>
        <p:spPr>
          <a:xfrm>
            <a:off x="-4209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446F4271-27D5-49BA-9C7D-327CDE2D3A0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01E2688C-3FA7-4BF4-95C8-8C443BA7ADA9}"/>
              </a:ext>
            </a:extLst>
          </p:cNvPr>
          <p:cNvSpPr>
            <a:spLocks noGrp="1"/>
          </p:cNvSpPr>
          <p:nvPr/>
        </p:nvSpPr>
        <p:spPr>
          <a:xfrm>
            <a:off x="364569" y="1385899"/>
            <a:ext cx="42807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lvl="0"/>
            <a:r>
              <a:rPr lang="pt-PT" sz="3500" b="1" dirty="0">
                <a:solidFill>
                  <a:srgbClr val="0C5C7C"/>
                </a:solidFill>
                <a:latin typeface="Play"/>
              </a:rPr>
              <a:t>Um Pipeline de Visão Computacional</a:t>
            </a:r>
            <a:endParaRPr sz="3500" b="1" dirty="0">
              <a:solidFill>
                <a:srgbClr val="0C5C7C"/>
              </a:solidFill>
              <a:latin typeface="Play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E58C59E7-90B6-490B-9F4F-244FDAF21EB6}"/>
              </a:ext>
            </a:extLst>
          </p:cNvPr>
          <p:cNvSpPr>
            <a:spLocks noGrp="1"/>
          </p:cNvSpPr>
          <p:nvPr/>
        </p:nvSpPr>
        <p:spPr>
          <a:xfrm>
            <a:off x="375645" y="2634276"/>
            <a:ext cx="42807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lvl="0"/>
            <a:r>
              <a:rPr lang="pt-PT" dirty="0">
                <a:solidFill>
                  <a:srgbClr val="0C5C7C"/>
                </a:solidFill>
                <a:latin typeface="Play"/>
              </a:rPr>
              <a:t>Análise de Achados Hiperecogênicos em Ultrassonografia Renal</a:t>
            </a:r>
            <a:endParaRPr dirty="0">
              <a:solidFill>
                <a:srgbClr val="0C5C7C"/>
              </a:solidFill>
              <a:latin typeface="Play"/>
            </a:endParaRPr>
          </a:p>
        </p:txBody>
      </p:sp>
      <p:sp>
        <p:nvSpPr>
          <p:cNvPr id="74" name="Google Shape;74;p14">
            <a:extLst>
              <a:ext uri="{FF2B5EF4-FFF2-40B4-BE49-F238E27FC236}">
                <a16:creationId xmlns:a16="http://schemas.microsoft.com/office/drawing/2014/main" id="{1E6ED131-8171-4931-9EFF-B85B0D6E850A}"/>
              </a:ext>
            </a:extLst>
          </p:cNvPr>
          <p:cNvSpPr>
            <a:spLocks noGrp="1"/>
          </p:cNvSpPr>
          <p:nvPr/>
        </p:nvSpPr>
        <p:spPr>
          <a:xfrm>
            <a:off x="491935" y="3445956"/>
            <a:ext cx="27081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A944ED31-DAF1-4DBA-8052-CB3613097FDE}"/>
              </a:ext>
            </a:extLst>
          </p:cNvPr>
          <p:cNvSpPr>
            <a:spLocks noGrp="1"/>
          </p:cNvSpPr>
          <p:nvPr/>
        </p:nvSpPr>
        <p:spPr>
          <a:xfrm>
            <a:off x="367478" y="3583942"/>
            <a:ext cx="4280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E5E5E"/>
                </a:solidFill>
                <a:latin typeface="Lato"/>
                <a:ea typeface="Lato"/>
                <a:cs typeface="Lato"/>
              </a:rPr>
              <a:t>Jefferson S. dos Anjos et 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E5E5E"/>
                </a:solidFill>
                <a:latin typeface="Lato"/>
                <a:ea typeface="Lato"/>
                <a:cs typeface="Lato"/>
              </a:rPr>
              <a:t>CEFET/RJ e HUPE - UERJ</a:t>
            </a:r>
          </a:p>
        </p:txBody>
      </p:sp>
    </p:spTree>
    <p:extLst>
      <p:ext uri="{BB962C8B-B14F-4D97-AF65-F5344CB8AC3E}">
        <p14:creationId xmlns:p14="http://schemas.microsoft.com/office/powerpoint/2010/main" val="561006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80;p15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pic>
        <p:nvPicPr>
          <p:cNvPr id="101" name="Google Shape;81;p15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28765"/>
          <a:stretch/>
        </p:blipFill>
        <p:spPr>
          <a:xfrm>
            <a:off x="4514026" y="1456426"/>
            <a:ext cx="4427677" cy="2564990"/>
          </a:xfrm>
          <a:prstGeom prst="rect">
            <a:avLst/>
          </a:prstGeom>
          <a:ln>
            <a:noFill/>
          </a:ln>
        </p:spPr>
      </p:pic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9B5B426B-88D3-491E-BFBB-86A5B9A8415A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>
            <a:extLst>
              <a:ext uri="{FF2B5EF4-FFF2-40B4-BE49-F238E27FC236}">
                <a16:creationId xmlns:a16="http://schemas.microsoft.com/office/drawing/2014/main" id="{85871CF3-DD05-4309-BE96-B25F6EF68A43}"/>
              </a:ext>
            </a:extLst>
          </p:cNvPr>
          <p:cNvSpPr>
            <a:spLocks noGrp="1"/>
          </p:cNvSpPr>
          <p:nvPr/>
        </p:nvSpPr>
        <p:spPr>
          <a:xfrm>
            <a:off x="336881" y="981644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E516E1C1-2AD2-45E3-9BD6-31BAF5DD2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ROTEIRO</a:t>
            </a:r>
          </a:p>
        </p:txBody>
      </p:sp>
      <p:sp>
        <p:nvSpPr>
          <p:cNvPr id="85" name="Google Shape;85;p15">
            <a:extLst>
              <a:ext uri="{FF2B5EF4-FFF2-40B4-BE49-F238E27FC236}">
                <a16:creationId xmlns:a16="http://schemas.microsoft.com/office/drawing/2014/main" id="{6926CDC5-AE05-4F5B-AC13-50D00E93898F}"/>
              </a:ext>
            </a:extLst>
          </p:cNvPr>
          <p:cNvSpPr>
            <a:spLocks noGrp="1"/>
          </p:cNvSpPr>
          <p:nvPr/>
        </p:nvSpPr>
        <p:spPr>
          <a:xfrm>
            <a:off x="336875" y="1268762"/>
            <a:ext cx="432000" cy="432000"/>
          </a:xfrm>
          <a:prstGeom prst="ellipse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1</a:t>
            </a:r>
          </a:p>
        </p:txBody>
      </p:sp>
      <p:sp>
        <p:nvSpPr>
          <p:cNvPr id="86" name="Google Shape;86;p15">
            <a:extLst>
              <a:ext uri="{FF2B5EF4-FFF2-40B4-BE49-F238E27FC236}">
                <a16:creationId xmlns:a16="http://schemas.microsoft.com/office/drawing/2014/main" id="{745E5E81-7FD9-4564-A393-779ABF0E3BCF}"/>
              </a:ext>
            </a:extLst>
          </p:cNvPr>
          <p:cNvSpPr>
            <a:spLocks noGrp="1"/>
          </p:cNvSpPr>
          <p:nvPr/>
        </p:nvSpPr>
        <p:spPr>
          <a:xfrm>
            <a:off x="824245" y="1280012"/>
            <a:ext cx="56211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Contexto e objetivo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Por que delimitar o rim primeiro</a:t>
            </a:r>
          </a:p>
        </p:txBody>
      </p:sp>
      <p:sp>
        <p:nvSpPr>
          <p:cNvPr id="87" name="Google Shape;87;p15">
            <a:extLst>
              <a:ext uri="{FF2B5EF4-FFF2-40B4-BE49-F238E27FC236}">
                <a16:creationId xmlns:a16="http://schemas.microsoft.com/office/drawing/2014/main" id="{EB010B72-5330-4C83-A714-F3C9AD86C148}"/>
              </a:ext>
            </a:extLst>
          </p:cNvPr>
          <p:cNvSpPr>
            <a:spLocks noGrp="1"/>
          </p:cNvSpPr>
          <p:nvPr/>
        </p:nvSpPr>
        <p:spPr>
          <a:xfrm>
            <a:off x="339755" y="1902950"/>
            <a:ext cx="432000" cy="432000"/>
          </a:xfrm>
          <a:prstGeom prst="ellipse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2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4CFCC35B-4F29-46E2-830E-3D640066F534}"/>
              </a:ext>
            </a:extLst>
          </p:cNvPr>
          <p:cNvSpPr>
            <a:spLocks noGrp="1"/>
          </p:cNvSpPr>
          <p:nvPr/>
        </p:nvSpPr>
        <p:spPr>
          <a:xfrm>
            <a:off x="827125" y="1914200"/>
            <a:ext cx="56211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rgbClr val="0C5C7C"/>
                </a:solidFill>
                <a:latin typeface="Lato"/>
                <a:ea typeface="Lato"/>
                <a:cs typeface="Lato"/>
              </a:rPr>
              <a:t>Metodologia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5E5E5E"/>
                </a:solidFill>
                <a:latin typeface="Lato"/>
                <a:ea typeface="Lato"/>
                <a:cs typeface="Lato"/>
              </a:rPr>
              <a:t>Cascata em três etapas</a:t>
            </a:r>
          </a:p>
        </p:txBody>
      </p:sp>
      <p:sp>
        <p:nvSpPr>
          <p:cNvPr id="89" name="Google Shape;89;p15">
            <a:extLst>
              <a:ext uri="{FF2B5EF4-FFF2-40B4-BE49-F238E27FC236}">
                <a16:creationId xmlns:a16="http://schemas.microsoft.com/office/drawing/2014/main" id="{8DDAE6EC-AE4C-41EE-9965-13D0D069694B}"/>
              </a:ext>
            </a:extLst>
          </p:cNvPr>
          <p:cNvSpPr>
            <a:spLocks noGrp="1"/>
          </p:cNvSpPr>
          <p:nvPr/>
        </p:nvSpPr>
        <p:spPr>
          <a:xfrm>
            <a:off x="334217" y="2512107"/>
            <a:ext cx="432000" cy="432000"/>
          </a:xfrm>
          <a:prstGeom prst="ellipse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3</a:t>
            </a:r>
          </a:p>
        </p:txBody>
      </p:sp>
      <p:sp>
        <p:nvSpPr>
          <p:cNvPr id="90" name="Google Shape;90;p15">
            <a:extLst>
              <a:ext uri="{FF2B5EF4-FFF2-40B4-BE49-F238E27FC236}">
                <a16:creationId xmlns:a16="http://schemas.microsoft.com/office/drawing/2014/main" id="{1691AD07-3E79-42A5-BDF0-9CF1891A8B8C}"/>
              </a:ext>
            </a:extLst>
          </p:cNvPr>
          <p:cNvSpPr>
            <a:spLocks noGrp="1"/>
          </p:cNvSpPr>
          <p:nvPr/>
        </p:nvSpPr>
        <p:spPr>
          <a:xfrm>
            <a:off x="821587" y="2523357"/>
            <a:ext cx="56211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 dirty="0">
                <a:solidFill>
                  <a:srgbClr val="0C5C7C"/>
                </a:solidFill>
                <a:latin typeface="Lato"/>
                <a:ea typeface="Lato"/>
                <a:cs typeface="Lato"/>
              </a:rPr>
              <a:t>Dados e </a:t>
            </a:r>
            <a:r>
              <a:rPr sz="1600" b="1" dirty="0" err="1">
                <a:solidFill>
                  <a:srgbClr val="0C5C7C"/>
                </a:solidFill>
                <a:latin typeface="Lato"/>
                <a:ea typeface="Lato"/>
                <a:cs typeface="Lato"/>
              </a:rPr>
              <a:t>protocolo</a:t>
            </a:r>
            <a:endParaRPr sz="1600" b="1" dirty="0">
              <a:solidFill>
                <a:srgbClr val="0C5C7C"/>
              </a:solidFill>
              <a:latin typeface="Lato"/>
              <a:ea typeface="Lato"/>
              <a:cs typeface="La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 dirty="0">
                <a:solidFill>
                  <a:srgbClr val="5E5E5E"/>
                </a:solidFill>
                <a:latin typeface="Lato"/>
                <a:ea typeface="Lato"/>
                <a:cs typeface="Lato"/>
              </a:rPr>
              <a:t>Conjuntos </a:t>
            </a: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auditados</a:t>
            </a:r>
            <a:r>
              <a:rPr sz="1200" dirty="0">
                <a:solidFill>
                  <a:srgbClr val="5E5E5E"/>
                </a:solidFill>
                <a:latin typeface="Lato"/>
                <a:ea typeface="Lato"/>
                <a:cs typeface="Lato"/>
              </a:rPr>
              <a:t> e </a:t>
            </a: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partições</a:t>
            </a:r>
            <a:endParaRPr sz="1200" dirty="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1" name="Google Shape;91;p15">
            <a:extLst>
              <a:ext uri="{FF2B5EF4-FFF2-40B4-BE49-F238E27FC236}">
                <a16:creationId xmlns:a16="http://schemas.microsoft.com/office/drawing/2014/main" id="{ACCD1D25-F8F9-45B3-AF72-132BD79A2AB7}"/>
              </a:ext>
            </a:extLst>
          </p:cNvPr>
          <p:cNvSpPr>
            <a:spLocks noGrp="1"/>
          </p:cNvSpPr>
          <p:nvPr/>
        </p:nvSpPr>
        <p:spPr>
          <a:xfrm>
            <a:off x="334217" y="3132339"/>
            <a:ext cx="432000" cy="432000"/>
          </a:xfrm>
          <a:prstGeom prst="ellipse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4</a:t>
            </a:r>
          </a:p>
        </p:txBody>
      </p:sp>
      <p:sp>
        <p:nvSpPr>
          <p:cNvPr id="92" name="Google Shape;92;p15">
            <a:extLst>
              <a:ext uri="{FF2B5EF4-FFF2-40B4-BE49-F238E27FC236}">
                <a16:creationId xmlns:a16="http://schemas.microsoft.com/office/drawing/2014/main" id="{37263FDF-D36C-411B-9B75-873C8A6BE0AC}"/>
              </a:ext>
            </a:extLst>
          </p:cNvPr>
          <p:cNvSpPr>
            <a:spLocks noGrp="1"/>
          </p:cNvSpPr>
          <p:nvPr/>
        </p:nvSpPr>
        <p:spPr>
          <a:xfrm>
            <a:off x="821587" y="3143589"/>
            <a:ext cx="56211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 dirty="0" err="1">
                <a:solidFill>
                  <a:srgbClr val="0C5C7C"/>
                </a:solidFill>
                <a:latin typeface="Lato"/>
                <a:ea typeface="Lato"/>
                <a:cs typeface="Lato"/>
              </a:rPr>
              <a:t>Resultados</a:t>
            </a:r>
            <a:r>
              <a:rPr sz="1600" b="1" dirty="0">
                <a:solidFill>
                  <a:srgbClr val="0C5C7C"/>
                </a:solidFill>
                <a:latin typeface="Lato"/>
                <a:ea typeface="Lato"/>
                <a:cs typeface="Lato"/>
              </a:rPr>
              <a:t> da </a:t>
            </a:r>
            <a:r>
              <a:rPr sz="1600" b="1" dirty="0" err="1">
                <a:solidFill>
                  <a:srgbClr val="0C5C7C"/>
                </a:solidFill>
                <a:latin typeface="Lato"/>
                <a:ea typeface="Lato"/>
                <a:cs typeface="Lato"/>
              </a:rPr>
              <a:t>cápsula</a:t>
            </a:r>
            <a:endParaRPr sz="1600" b="1" dirty="0">
              <a:solidFill>
                <a:srgbClr val="0C5C7C"/>
              </a:solidFill>
              <a:latin typeface="Lato"/>
              <a:ea typeface="Lato"/>
              <a:cs typeface="La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Seleção</a:t>
            </a:r>
            <a:r>
              <a:rPr sz="1200" dirty="0">
                <a:solidFill>
                  <a:srgbClr val="5E5E5E"/>
                </a:solidFill>
                <a:latin typeface="Lato"/>
                <a:ea typeface="Lato"/>
                <a:cs typeface="Lato"/>
              </a:rPr>
              <a:t> do </a:t>
            </a: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segmentador</a:t>
            </a:r>
            <a:r>
              <a:rPr sz="1200" dirty="0">
                <a:solidFill>
                  <a:srgbClr val="5E5E5E"/>
                </a:solidFill>
                <a:latin typeface="Lato"/>
                <a:ea typeface="Lato"/>
                <a:cs typeface="Lato"/>
              </a:rPr>
              <a:t> renal</a:t>
            </a:r>
          </a:p>
        </p:txBody>
      </p:sp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DC87C1C0-4844-4552-93C8-A6FD8F7A170B}"/>
              </a:ext>
            </a:extLst>
          </p:cNvPr>
          <p:cNvSpPr>
            <a:spLocks noGrp="1"/>
          </p:cNvSpPr>
          <p:nvPr/>
        </p:nvSpPr>
        <p:spPr>
          <a:xfrm>
            <a:off x="337097" y="3766527"/>
            <a:ext cx="432000" cy="432000"/>
          </a:xfrm>
          <a:prstGeom prst="ellipse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5</a:t>
            </a:r>
          </a:p>
        </p:txBody>
      </p:sp>
      <p:sp>
        <p:nvSpPr>
          <p:cNvPr id="94" name="Google Shape;94;p15">
            <a:extLst>
              <a:ext uri="{FF2B5EF4-FFF2-40B4-BE49-F238E27FC236}">
                <a16:creationId xmlns:a16="http://schemas.microsoft.com/office/drawing/2014/main" id="{0CD5E622-67E8-42B2-971C-8FA2F6E926EE}"/>
              </a:ext>
            </a:extLst>
          </p:cNvPr>
          <p:cNvSpPr>
            <a:spLocks noGrp="1"/>
          </p:cNvSpPr>
          <p:nvPr/>
        </p:nvSpPr>
        <p:spPr>
          <a:xfrm>
            <a:off x="824467" y="3777777"/>
            <a:ext cx="56211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 dirty="0" err="1">
                <a:solidFill>
                  <a:srgbClr val="0C5C7C"/>
                </a:solidFill>
                <a:latin typeface="Lato"/>
                <a:ea typeface="Lato"/>
                <a:cs typeface="Lato"/>
              </a:rPr>
              <a:t>Consenso</a:t>
            </a:r>
            <a:r>
              <a:rPr sz="1600" b="1" dirty="0">
                <a:solidFill>
                  <a:srgbClr val="0C5C7C"/>
                </a:solidFill>
                <a:latin typeface="Lato"/>
                <a:ea typeface="Lato"/>
                <a:cs typeface="Lato"/>
              </a:rPr>
              <a:t> e </a:t>
            </a:r>
            <a:r>
              <a:rPr sz="1600" b="1" dirty="0" err="1">
                <a:solidFill>
                  <a:srgbClr val="0C5C7C"/>
                </a:solidFill>
                <a:latin typeface="Lato"/>
                <a:ea typeface="Lato"/>
                <a:cs typeface="Lato"/>
              </a:rPr>
              <a:t>regiões</a:t>
            </a:r>
            <a:r>
              <a:rPr sz="1600" b="1" dirty="0">
                <a:solidFill>
                  <a:srgbClr val="0C5C7C"/>
                </a:solidFill>
                <a:latin typeface="Lato"/>
                <a:ea typeface="Lato"/>
                <a:cs typeface="Lato"/>
              </a:rPr>
              <a:t> </a:t>
            </a:r>
            <a:r>
              <a:rPr sz="1600" b="1" dirty="0" err="1">
                <a:solidFill>
                  <a:srgbClr val="0C5C7C"/>
                </a:solidFill>
                <a:latin typeface="Lato"/>
                <a:ea typeface="Lato"/>
                <a:cs typeface="Lato"/>
              </a:rPr>
              <a:t>internas</a:t>
            </a:r>
            <a:endParaRPr sz="1600" b="1" dirty="0">
              <a:solidFill>
                <a:srgbClr val="0C5C7C"/>
              </a:solidFill>
              <a:latin typeface="Lato"/>
              <a:ea typeface="Lato"/>
              <a:cs typeface="La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Triagem</a:t>
            </a:r>
            <a:r>
              <a:rPr sz="1200" dirty="0">
                <a:solidFill>
                  <a:srgbClr val="5E5E5E"/>
                </a:solidFill>
                <a:latin typeface="Lato"/>
                <a:ea typeface="Lato"/>
                <a:cs typeface="Lato"/>
              </a:rPr>
              <a:t> e </a:t>
            </a: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segmentação</a:t>
            </a:r>
            <a:r>
              <a:rPr sz="1200" dirty="0">
                <a:solidFill>
                  <a:srgbClr val="5E5E5E"/>
                </a:solidFill>
                <a:latin typeface="Lato"/>
                <a:ea typeface="Lato"/>
                <a:cs typeface="Lato"/>
              </a:rPr>
              <a:t> </a:t>
            </a: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multiclasse</a:t>
            </a:r>
            <a:endParaRPr sz="1200" dirty="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E0761BDE-FBB7-414F-9640-B3BC819579C4}"/>
              </a:ext>
            </a:extLst>
          </p:cNvPr>
          <p:cNvSpPr>
            <a:spLocks noGrp="1"/>
          </p:cNvSpPr>
          <p:nvPr/>
        </p:nvSpPr>
        <p:spPr>
          <a:xfrm>
            <a:off x="331559" y="4375684"/>
            <a:ext cx="432000" cy="432000"/>
          </a:xfrm>
          <a:prstGeom prst="ellipse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D9E2"/>
                </a:solidFill>
                <a:latin typeface="Play"/>
                <a:ea typeface="Play"/>
                <a:cs typeface="Play"/>
              </a:rPr>
              <a:t>6</a:t>
            </a:r>
          </a:p>
        </p:txBody>
      </p:sp>
      <p:sp>
        <p:nvSpPr>
          <p:cNvPr id="96" name="Google Shape;96;p15">
            <a:extLst>
              <a:ext uri="{FF2B5EF4-FFF2-40B4-BE49-F238E27FC236}">
                <a16:creationId xmlns:a16="http://schemas.microsoft.com/office/drawing/2014/main" id="{5452DAEE-CE8F-478C-98C8-7824C54F8E5C}"/>
              </a:ext>
            </a:extLst>
          </p:cNvPr>
          <p:cNvSpPr>
            <a:spLocks noGrp="1"/>
          </p:cNvSpPr>
          <p:nvPr/>
        </p:nvSpPr>
        <p:spPr>
          <a:xfrm>
            <a:off x="821587" y="4386934"/>
            <a:ext cx="56211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 dirty="0" err="1">
                <a:solidFill>
                  <a:srgbClr val="0C5C7C"/>
                </a:solidFill>
                <a:latin typeface="Lato"/>
                <a:ea typeface="Lato"/>
                <a:cs typeface="Lato"/>
              </a:rPr>
              <a:t>Conclusões</a:t>
            </a:r>
            <a:endParaRPr sz="1600" b="1" dirty="0">
              <a:solidFill>
                <a:srgbClr val="0C5C7C"/>
              </a:solidFill>
              <a:latin typeface="Lato"/>
              <a:ea typeface="Lato"/>
              <a:cs typeface="La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Limites</a:t>
            </a:r>
            <a:r>
              <a:rPr sz="1200" dirty="0">
                <a:solidFill>
                  <a:srgbClr val="5E5E5E"/>
                </a:solidFill>
                <a:latin typeface="Lato"/>
                <a:ea typeface="Lato"/>
                <a:cs typeface="Lato"/>
              </a:rPr>
              <a:t> e </a:t>
            </a: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próximos</a:t>
            </a:r>
            <a:r>
              <a:rPr sz="1200" dirty="0">
                <a:solidFill>
                  <a:srgbClr val="5E5E5E"/>
                </a:solidFill>
                <a:latin typeface="Lato"/>
                <a:ea typeface="Lato"/>
                <a:cs typeface="Lato"/>
              </a:rPr>
              <a:t> </a:t>
            </a:r>
            <a:r>
              <a:rPr sz="1200" dirty="0" err="1">
                <a:solidFill>
                  <a:srgbClr val="5E5E5E"/>
                </a:solidFill>
                <a:latin typeface="Lato"/>
                <a:ea typeface="Lato"/>
                <a:cs typeface="Lato"/>
              </a:rPr>
              <a:t>passos</a:t>
            </a:r>
            <a:endParaRPr sz="1200" dirty="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0CCC5540-CC28-456E-8D04-A38613E3CB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</p:spTree>
    <p:extLst>
      <p:ext uri="{BB962C8B-B14F-4D97-AF65-F5344CB8AC3E}">
        <p14:creationId xmlns:p14="http://schemas.microsoft.com/office/powerpoint/2010/main" val="194099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2D3">
            <a:alpha val="3025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02;p1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pic>
        <p:nvPicPr>
          <p:cNvPr id="113" name="Google Shape;103;p16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28765"/>
          <a:stretch/>
        </p:blipFill>
        <p:spPr>
          <a:xfrm>
            <a:off x="4514026" y="1456426"/>
            <a:ext cx="4427677" cy="2564990"/>
          </a:xfrm>
          <a:prstGeom prst="rect">
            <a:avLst/>
          </a:prstGeom>
          <a:ln>
            <a:noFill/>
          </a:ln>
        </p:spPr>
      </p:pic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2F878B6A-84D1-4F38-9144-9A591D807B4C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>
            <a:extLst>
              <a:ext uri="{FF2B5EF4-FFF2-40B4-BE49-F238E27FC236}">
                <a16:creationId xmlns:a16="http://schemas.microsoft.com/office/drawing/2014/main" id="{E0147483-030C-4094-B0E0-BB94B459A0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3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id="{20C57001-BC1C-47F7-A7D2-F23AF3E623F2}"/>
              </a:ext>
            </a:extLst>
          </p:cNvPr>
          <p:cNvSpPr>
            <a:spLocks noGrp="1"/>
          </p:cNvSpPr>
          <p:nvPr/>
        </p:nvSpPr>
        <p:spPr>
          <a:xfrm>
            <a:off x="414402" y="2248500"/>
            <a:ext cx="5942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CONTEXTO E OBJETIVO</a:t>
            </a:r>
          </a:p>
        </p:txBody>
      </p:sp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519EE504-FE82-4041-97A9-B6F7A6E02DD3}"/>
              </a:ext>
            </a:extLst>
          </p:cNvPr>
          <p:cNvSpPr>
            <a:spLocks noGrp="1"/>
          </p:cNvSpPr>
          <p:nvPr/>
        </p:nvSpPr>
        <p:spPr>
          <a:xfrm>
            <a:off x="382445" y="2938851"/>
            <a:ext cx="4280700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C5C7C"/>
                </a:solidFill>
                <a:latin typeface="Play"/>
                <a:ea typeface="Play"/>
                <a:cs typeface="Play"/>
              </a:rPr>
              <a:t>Analisar estruturas internas requer uma ROI renal confiável.</a:t>
            </a: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id="{FDD1EEDE-C387-4599-9833-46800BC6A88A}"/>
              </a:ext>
            </a:extLst>
          </p:cNvPr>
          <p:cNvSpPr>
            <a:spLocks noGrp="1"/>
          </p:cNvSpPr>
          <p:nvPr/>
        </p:nvSpPr>
        <p:spPr>
          <a:xfrm>
            <a:off x="537510" y="1942156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12E626E9-0873-49D8-AD09-3CC377B1FFA4}"/>
              </a:ext>
            </a:extLst>
          </p:cNvPr>
          <p:cNvSpPr>
            <a:spLocks noGrp="1"/>
          </p:cNvSpPr>
          <p:nvPr/>
        </p:nvSpPr>
        <p:spPr>
          <a:xfrm>
            <a:off x="414394" y="677474"/>
            <a:ext cx="4280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01</a:t>
            </a:r>
            <a:endParaRPr sz="82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01908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lvl="0"/>
            <a:r>
              <a:rPr lang="pt-PT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PROBLEMA</a:t>
            </a:r>
          </a:p>
        </p:txBody>
      </p:sp>
      <p:pic>
        <p:nvPicPr>
          <p:cNvPr id="136" name="Google Shape;127;p18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4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7679C2EE-B596-42A9-85CF-578632DB3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473666"/>
            <a:ext cx="5692151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 dirty="0"/>
              <a:t>A interpretação de ultrassonografias renais ainda depende fortemente da inspeção visual subjetiva do especialista e da delimitação manual/anatômica do rim. Regiões hiperecogênicas próximas às pirâmides renais podem indicar achados suspeitos, mas a presença de ruído, sombras acústicas, variações de ganho e diferenças de enquadramento dificulta sua análise automática. Sem uma máscara renal confiável, áreas muito claras podem ser confundidas com artefatos ou estruturas externas ao rim</a:t>
            </a:r>
            <a:r>
              <a:rPr sz="1300" dirty="0">
                <a:solidFill>
                  <a:srgbClr val="5E5E5E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pic>
        <p:nvPicPr>
          <p:cNvPr id="142" name="Google Shape;133;p18"/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141600" y="2078587"/>
            <a:ext cx="2690698" cy="13968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17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3E3A1-B4A7-EB48-6F0F-041E6BA08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F95E5087-76F8-ED1A-524F-C9C2A3566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lvl="0"/>
            <a:r>
              <a:rPr lang="pt-PT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OBJETIVO</a:t>
            </a:r>
          </a:p>
        </p:txBody>
      </p:sp>
      <p:pic>
        <p:nvPicPr>
          <p:cNvPr id="136" name="Google Shape;127;p18">
            <a:extLst>
              <a:ext uri="{FF2B5EF4-FFF2-40B4-BE49-F238E27FC236}">
                <a16:creationId xmlns:a16="http://schemas.microsoft.com/office/drawing/2014/main" id="{06D33F43-FDC6-C951-2315-B21F3909B6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EFA176F1-E183-EFD8-D4E8-691DBF1ABDF8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67F83B28-667A-DE0D-678D-54232FE549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5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66A562E6-4A2E-AD02-5451-01A4288A600B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>
            <a:extLst>
              <a:ext uri="{FF2B5EF4-FFF2-40B4-BE49-F238E27FC236}">
                <a16:creationId xmlns:a16="http://schemas.microsoft.com/office/drawing/2014/main" id="{7560BF37-8C4E-7B8E-40E9-71B8CFE69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797" y="1471008"/>
            <a:ext cx="5662527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 dirty="0"/>
              <a:t>Propor um pipeline de visão computacional para análise de ultrassonografias renais, composto por três etapas: segmentação da cápsula renal, verificação da segmentação por consenso entre modelos e segmentação de estruturas intrarrenais. A partir dessa delimitação progressiva, o método busca restringir a análise ao interior do rim e apoiar a investigação exploratória de achados hiperecogênicos suspeitos.</a:t>
            </a:r>
            <a:endParaRPr sz="1300" dirty="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2" name="Google Shape;133;p18">
            <a:extLst>
              <a:ext uri="{FF2B5EF4-FFF2-40B4-BE49-F238E27FC236}">
                <a16:creationId xmlns:a16="http://schemas.microsoft.com/office/drawing/2014/main" id="{E9A7DDC7-5AE6-5A85-711C-77532A3818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6141600" y="2078587"/>
            <a:ext cx="2690698" cy="13968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8808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3189F-7E5D-575D-648E-30860886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D9FCC42E-8447-195E-99D3-E7350838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7124002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Delimitar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o rim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reduz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falsos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achados</a:t>
            </a:r>
            <a:endParaRPr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36" name="Google Shape;127;p18">
            <a:extLst>
              <a:ext uri="{FF2B5EF4-FFF2-40B4-BE49-F238E27FC236}">
                <a16:creationId xmlns:a16="http://schemas.microsoft.com/office/drawing/2014/main" id="{F9C30DFF-7412-FF84-1C6C-AB3909B996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D413E338-59FF-0DCF-CCCF-F7A0DE09FCAB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D66B607F-1AA3-07B4-81B4-8DF04432CD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6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634A19CF-73EA-8279-9F46-F1A55228B82F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" name="Google Shape;133;p18">
            <a:extLst>
              <a:ext uri="{FF2B5EF4-FFF2-40B4-BE49-F238E27FC236}">
                <a16:creationId xmlns:a16="http://schemas.microsoft.com/office/drawing/2014/main" id="{A2552B63-60BD-FD2F-9C90-FA4971EBCF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297797" y="1197529"/>
            <a:ext cx="6418407" cy="33319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5105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2D3">
            <a:alpha val="3025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38;p19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pic>
        <p:nvPicPr>
          <p:cNvPr id="149" name="Google Shape;139;p19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28765"/>
          <a:stretch/>
        </p:blipFill>
        <p:spPr>
          <a:xfrm>
            <a:off x="4514026" y="1456426"/>
            <a:ext cx="4427677" cy="2564990"/>
          </a:xfrm>
          <a:prstGeom prst="rect">
            <a:avLst/>
          </a:prstGeom>
          <a:ln>
            <a:noFill/>
          </a:ln>
        </p:spPr>
      </p:pic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856135FF-72A0-4835-B3CC-0ACABC71C021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2647F163-BEAA-4049-AAC1-6A198900C2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7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5E53BB62-F423-4F27-8D95-8452318032FF}"/>
              </a:ext>
            </a:extLst>
          </p:cNvPr>
          <p:cNvSpPr>
            <a:spLocks noGrp="1"/>
          </p:cNvSpPr>
          <p:nvPr/>
        </p:nvSpPr>
        <p:spPr>
          <a:xfrm>
            <a:off x="414402" y="2248500"/>
            <a:ext cx="5942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METODOLOGIA</a:t>
            </a: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DFD32938-DF7A-4899-B290-A05EC14472D4}"/>
              </a:ext>
            </a:extLst>
          </p:cNvPr>
          <p:cNvSpPr>
            <a:spLocks noGrp="1"/>
          </p:cNvSpPr>
          <p:nvPr/>
        </p:nvSpPr>
        <p:spPr>
          <a:xfrm>
            <a:off x="382445" y="2938851"/>
            <a:ext cx="4280700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C5C7C"/>
                </a:solidFill>
                <a:latin typeface="Play"/>
                <a:ea typeface="Play"/>
                <a:cs typeface="Play"/>
              </a:rPr>
              <a:t>A região analisada é delimitada progressivamente.</a:t>
            </a: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17598640-7CD9-41A2-AA1D-6CD9AE419F3B}"/>
              </a:ext>
            </a:extLst>
          </p:cNvPr>
          <p:cNvSpPr>
            <a:spLocks noGrp="1"/>
          </p:cNvSpPr>
          <p:nvPr/>
        </p:nvSpPr>
        <p:spPr>
          <a:xfrm>
            <a:off x="537510" y="1942156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>
              <a:ext uri="{FF2B5EF4-FFF2-40B4-BE49-F238E27FC236}">
                <a16:creationId xmlns:a16="http://schemas.microsoft.com/office/drawing/2014/main" id="{10BF4ACA-78FF-42AE-9784-43EE980CF1A2}"/>
              </a:ext>
            </a:extLst>
          </p:cNvPr>
          <p:cNvSpPr>
            <a:spLocks noGrp="1"/>
          </p:cNvSpPr>
          <p:nvPr/>
        </p:nvSpPr>
        <p:spPr>
          <a:xfrm>
            <a:off x="414394" y="677474"/>
            <a:ext cx="4280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02</a:t>
            </a:r>
            <a:endParaRPr sz="82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21175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>
            <a:extLst>
              <a:ext uri="{FF2B5EF4-FFF2-40B4-BE49-F238E27FC236}">
                <a16:creationId xmlns:a16="http://schemas.microsoft.com/office/drawing/2014/main" id="{E6F10575-CBE9-4259-BEFA-F1A077A55D3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Cascata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em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três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etapas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encadeadas</a:t>
            </a:r>
            <a:r>
              <a:rPr lang="pt-BR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: </a:t>
            </a:r>
            <a:endParaRPr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3D5B227-C25A-68BC-F144-D4C0D1AD5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5465323" cy="3416400"/>
          </a:xfrm>
        </p:spPr>
        <p:txBody>
          <a:bodyPr/>
          <a:lstStyle/>
          <a:p>
            <a:pPr marL="139700" indent="0">
              <a:buNone/>
            </a:pPr>
            <a:r>
              <a:rPr lang="pt-PT" b="1" dirty="0"/>
              <a:t>Segmentação da cápsula renal</a:t>
            </a:r>
            <a:br>
              <a:rPr lang="pt-PT" dirty="0"/>
            </a:br>
            <a:br>
              <a:rPr lang="pt-PT" dirty="0"/>
            </a:br>
            <a:r>
              <a:rPr lang="pt-PT" dirty="0"/>
              <a:t>Nesta primeira etapa, o objetivo é localizar e delimitar corretamente o rim na imagem de ultrassom. </a:t>
            </a:r>
          </a:p>
          <a:p>
            <a:pPr marL="139700" indent="0">
              <a:buNone/>
            </a:pPr>
            <a:r>
              <a:rPr lang="pt-PT" dirty="0"/>
              <a:t>As imagens passam por pré-processamento com CLAHE para melhorar o contraste e, em seguida, diferentes arquiteturas de segmentação são avaliadas. </a:t>
            </a:r>
          </a:p>
          <a:p>
            <a:pPr marL="139700" indent="0">
              <a:buNone/>
            </a:pPr>
            <a:r>
              <a:rPr lang="pt-PT" dirty="0"/>
              <a:t>A U-Net apresentou o melhor desempenho no conjunto de teste, com Dice de 0,9290, sendo selecionada para a geração das pseudomáscaras nas imagens externas. </a:t>
            </a:r>
          </a:p>
          <a:p>
            <a:pPr marL="139700" indent="0">
              <a:buNone/>
            </a:pPr>
            <a:r>
              <a:rPr lang="pt-PT" dirty="0"/>
              <a:t>Essa etapa é fundamental porque todas as análises posteriores ficam restritas à região renal identificada.</a:t>
            </a:r>
          </a:p>
        </p:txBody>
      </p:sp>
      <p:sp>
        <p:nvSpPr>
          <p:cNvPr id="153" name="Google Shape;153;p20">
            <a:extLst>
              <a:ext uri="{FF2B5EF4-FFF2-40B4-BE49-F238E27FC236}">
                <a16:creationId xmlns:a16="http://schemas.microsoft.com/office/drawing/2014/main" id="{CD1F6C26-C88E-4386-978E-290E1B05DBA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8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pic>
        <p:nvPicPr>
          <p:cNvPr id="158" name="Google Shape;151;p2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52" name="Google Shape;152;p20">
            <a:extLst>
              <a:ext uri="{FF2B5EF4-FFF2-40B4-BE49-F238E27FC236}">
                <a16:creationId xmlns:a16="http://schemas.microsoft.com/office/drawing/2014/main" id="{0F49A80B-221C-476E-9990-A8329045BEA9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>
            <a:extLst>
              <a:ext uri="{FF2B5EF4-FFF2-40B4-BE49-F238E27FC236}">
                <a16:creationId xmlns:a16="http://schemas.microsoft.com/office/drawing/2014/main" id="{6A743674-BFF6-4F1E-B6BC-C00D17902E89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1610454-4B8D-BA38-BBFE-226D2CAF2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1" t="3135" r="26124" b="4266"/>
          <a:stretch>
            <a:fillRect/>
          </a:stretch>
        </p:blipFill>
        <p:spPr>
          <a:xfrm>
            <a:off x="6208377" y="942524"/>
            <a:ext cx="2537826" cy="375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83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3C09-A8DE-5E71-B71D-A0372B84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>
            <a:extLst>
              <a:ext uri="{FF2B5EF4-FFF2-40B4-BE49-F238E27FC236}">
                <a16:creationId xmlns:a16="http://schemas.microsoft.com/office/drawing/2014/main" id="{27767795-2740-93CA-44F3-14EA4365F99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Cascata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em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três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etapas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encadeadas</a:t>
            </a:r>
            <a:r>
              <a:rPr lang="pt-BR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: </a:t>
            </a:r>
            <a:endParaRPr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E2765BB-E9EC-6CD6-8201-D94E24764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5465323" cy="3416400"/>
          </a:xfrm>
        </p:spPr>
        <p:txBody>
          <a:bodyPr/>
          <a:lstStyle/>
          <a:p>
            <a:pPr marL="139700" indent="0">
              <a:buNone/>
            </a:pPr>
            <a:r>
              <a:rPr lang="pt-PT" b="1" dirty="0"/>
              <a:t>Verificação por consenso entre modelos</a:t>
            </a:r>
          </a:p>
          <a:p>
            <a:pPr marL="139700" indent="0">
              <a:buNone/>
            </a:pPr>
            <a:endParaRPr lang="pt-PT" b="1" dirty="0"/>
          </a:p>
          <a:p>
            <a:pPr marL="139700" indent="0">
              <a:buNone/>
            </a:pPr>
            <a:r>
              <a:rPr lang="pt-PT" dirty="0"/>
              <a:t>Depois da segmentação inicial, a qualidade das pseudomáscaras é verificada por meio da concordância entre a U-Net e a DeepLabV3. </a:t>
            </a:r>
          </a:p>
          <a:p>
            <a:pPr marL="139700" indent="0">
              <a:buNone/>
            </a:pPr>
            <a:r>
              <a:rPr lang="pt-PT" dirty="0"/>
              <a:t>Para cada imagem, as máscaras produzidas pelos dois modelos são comparadas utilizando o coeficiente Dice. </a:t>
            </a:r>
          </a:p>
          <a:p>
            <a:pPr marL="139700" indent="0">
              <a:buNone/>
            </a:pPr>
            <a:r>
              <a:rPr lang="pt-PT" dirty="0"/>
              <a:t>Esse consenso não produz uma nova máscara, mas funciona como um indicador de confiabilidade da segmentação e permite classificar os casos em concordância alta, intermediária ou baixa, ajudando a definir quais imagens devem receber maior prioridade na revisão humana.</a:t>
            </a:r>
          </a:p>
        </p:txBody>
      </p:sp>
      <p:sp>
        <p:nvSpPr>
          <p:cNvPr id="153" name="Google Shape;153;p20">
            <a:extLst>
              <a:ext uri="{FF2B5EF4-FFF2-40B4-BE49-F238E27FC236}">
                <a16:creationId xmlns:a16="http://schemas.microsoft.com/office/drawing/2014/main" id="{4686ECE1-968B-E647-CBFD-E04778CBDC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9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pic>
        <p:nvPicPr>
          <p:cNvPr id="158" name="Google Shape;151;p20">
            <a:extLst>
              <a:ext uri="{FF2B5EF4-FFF2-40B4-BE49-F238E27FC236}">
                <a16:creationId xmlns:a16="http://schemas.microsoft.com/office/drawing/2014/main" id="{403BEA1B-847F-FB56-C6B3-69A1D9F3B3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52" name="Google Shape;152;p20">
            <a:extLst>
              <a:ext uri="{FF2B5EF4-FFF2-40B4-BE49-F238E27FC236}">
                <a16:creationId xmlns:a16="http://schemas.microsoft.com/office/drawing/2014/main" id="{CF30AB01-2011-8F9A-63CC-77A0891ACB7D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>
            <a:extLst>
              <a:ext uri="{FF2B5EF4-FFF2-40B4-BE49-F238E27FC236}">
                <a16:creationId xmlns:a16="http://schemas.microsoft.com/office/drawing/2014/main" id="{337AD2F1-036F-7523-6E7E-C648A54F54B4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0F985EC-93C0-514A-BD2B-9F6A0A798A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2" r="24662"/>
          <a:stretch/>
        </p:blipFill>
        <p:spPr>
          <a:xfrm>
            <a:off x="6060558" y="723754"/>
            <a:ext cx="2685645" cy="397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902BD-79D1-A04B-2522-7CCD8BBC0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>
            <a:extLst>
              <a:ext uri="{FF2B5EF4-FFF2-40B4-BE49-F238E27FC236}">
                <a16:creationId xmlns:a16="http://schemas.microsoft.com/office/drawing/2014/main" id="{C0A2EBBB-9E05-326C-ADA7-4600845BC92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Cascata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em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três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etapas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encadeadas</a:t>
            </a:r>
            <a:r>
              <a:rPr lang="pt-BR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: </a:t>
            </a:r>
            <a:endParaRPr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693D4248-B64A-490B-BAF9-3A0336E63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5465323" cy="3416400"/>
          </a:xfrm>
        </p:spPr>
        <p:txBody>
          <a:bodyPr/>
          <a:lstStyle/>
          <a:p>
            <a:pPr marL="139700" indent="0">
              <a:buNone/>
            </a:pPr>
            <a:r>
              <a:rPr lang="pt-PT" b="1" dirty="0"/>
              <a:t>Segmentação das estruturas intrarrenais</a:t>
            </a:r>
          </a:p>
          <a:p>
            <a:pPr marL="139700" indent="0">
              <a:buNone/>
            </a:pPr>
            <a:endParaRPr lang="pt-PT" b="1" dirty="0"/>
          </a:p>
          <a:p>
            <a:pPr marL="139700" indent="0">
              <a:buNone/>
            </a:pPr>
            <a:r>
              <a:rPr lang="pt-PT" dirty="0"/>
              <a:t>Após a delimitação do rim, a máscara da cápsula é utilizada para definir a região de interesse. </a:t>
            </a:r>
          </a:p>
          <a:p>
            <a:pPr marL="139700" indent="0">
              <a:buNone/>
            </a:pPr>
            <a:r>
              <a:rPr lang="pt-PT" dirty="0"/>
              <a:t>A partir dessa região, uma U-Net multiclasse realiza a segmentação de três estruturas internas: córtex, medula e complexo ecogênico central. </a:t>
            </a:r>
          </a:p>
          <a:p>
            <a:pPr marL="139700" indent="0">
              <a:buNone/>
            </a:pPr>
            <a:r>
              <a:rPr lang="pt-PT" dirty="0"/>
              <a:t>Essa segmentação fornece uma representação anatômica mais detalhada do interior do rim e permite restringir posteriormente a análise de regiões hiperecogênicas suspeitas. </a:t>
            </a:r>
          </a:p>
          <a:p>
            <a:pPr marL="139700" indent="0">
              <a:buNone/>
            </a:pPr>
            <a:r>
              <a:rPr lang="pt-PT" dirty="0"/>
              <a:t>No conjunto de teste anotado manualmente, a U-Net alcançou Dice médio de 0,7594.</a:t>
            </a:r>
          </a:p>
        </p:txBody>
      </p:sp>
      <p:sp>
        <p:nvSpPr>
          <p:cNvPr id="153" name="Google Shape;153;p20">
            <a:extLst>
              <a:ext uri="{FF2B5EF4-FFF2-40B4-BE49-F238E27FC236}">
                <a16:creationId xmlns:a16="http://schemas.microsoft.com/office/drawing/2014/main" id="{6123BB92-1F6B-634C-93F3-2A99947624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10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pic>
        <p:nvPicPr>
          <p:cNvPr id="158" name="Google Shape;151;p20">
            <a:extLst>
              <a:ext uri="{FF2B5EF4-FFF2-40B4-BE49-F238E27FC236}">
                <a16:creationId xmlns:a16="http://schemas.microsoft.com/office/drawing/2014/main" id="{CFD3C180-C6F3-844F-0133-AAD413ADF7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52" name="Google Shape;152;p20">
            <a:extLst>
              <a:ext uri="{FF2B5EF4-FFF2-40B4-BE49-F238E27FC236}">
                <a16:creationId xmlns:a16="http://schemas.microsoft.com/office/drawing/2014/main" id="{5A0CEC79-DB00-1A33-9231-D14E3BC52D6D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>
            <a:extLst>
              <a:ext uri="{FF2B5EF4-FFF2-40B4-BE49-F238E27FC236}">
                <a16:creationId xmlns:a16="http://schemas.microsoft.com/office/drawing/2014/main" id="{8C5F87F4-8F89-2313-FB28-AE93B85CB999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F2B60AD-4870-774A-F96A-A1E577310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2" r="24662"/>
          <a:stretch/>
        </p:blipFill>
        <p:spPr>
          <a:xfrm>
            <a:off x="6060558" y="723754"/>
            <a:ext cx="2685645" cy="397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04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2D3">
            <a:alpha val="30259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106E8-72EB-C9ED-A351-5BD8C58AF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38;p19">
            <a:extLst>
              <a:ext uri="{FF2B5EF4-FFF2-40B4-BE49-F238E27FC236}">
                <a16:creationId xmlns:a16="http://schemas.microsoft.com/office/drawing/2014/main" id="{7B1BD629-E398-EE70-DDC6-8CC40FC3D8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pic>
        <p:nvPicPr>
          <p:cNvPr id="149" name="Google Shape;139;p19">
            <a:extLst>
              <a:ext uri="{FF2B5EF4-FFF2-40B4-BE49-F238E27FC236}">
                <a16:creationId xmlns:a16="http://schemas.microsoft.com/office/drawing/2014/main" id="{B6363C5E-FBBE-BF4D-3830-D2950933C7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28765"/>
          <a:stretch/>
        </p:blipFill>
        <p:spPr>
          <a:xfrm>
            <a:off x="4514026" y="1456426"/>
            <a:ext cx="4427677" cy="2564990"/>
          </a:xfrm>
          <a:prstGeom prst="rect">
            <a:avLst/>
          </a:prstGeom>
          <a:ln>
            <a:noFill/>
          </a:ln>
        </p:spPr>
      </p:pic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982C6D72-60B7-5478-CCDC-81A6E4EEA455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43E0F0C4-6F04-B4B6-ADF3-3433C1A20B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11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C30272B8-83E4-8BF6-3E7C-9C386466D04B}"/>
              </a:ext>
            </a:extLst>
          </p:cNvPr>
          <p:cNvSpPr>
            <a:spLocks noGrp="1"/>
          </p:cNvSpPr>
          <p:nvPr/>
        </p:nvSpPr>
        <p:spPr>
          <a:xfrm>
            <a:off x="414402" y="2248500"/>
            <a:ext cx="5942100" cy="113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r>
              <a:rPr lang="pt-BR" sz="3200" b="1" dirty="0">
                <a:solidFill>
                  <a:srgbClr val="0C5C7C"/>
                </a:solidFill>
                <a:latin typeface="Lato"/>
                <a:ea typeface="Lato"/>
                <a:cs typeface="Lato"/>
              </a:rPr>
              <a:t>Dados e protocolo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78909C99-5CB9-9FB8-3FD1-D9D7DB4031B6}"/>
              </a:ext>
            </a:extLst>
          </p:cNvPr>
          <p:cNvSpPr>
            <a:spLocks noGrp="1"/>
          </p:cNvSpPr>
          <p:nvPr/>
        </p:nvSpPr>
        <p:spPr>
          <a:xfrm>
            <a:off x="382445" y="2938851"/>
            <a:ext cx="42807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r>
              <a:rPr lang="pt-BR" dirty="0">
                <a:solidFill>
                  <a:srgbClr val="0C5C7C"/>
                </a:solidFill>
                <a:latin typeface="Play"/>
              </a:rPr>
              <a:t>Conjuntos auditados e partições. </a:t>
            </a: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A6842782-D87A-9159-4A78-72B9863BE07D}"/>
              </a:ext>
            </a:extLst>
          </p:cNvPr>
          <p:cNvSpPr>
            <a:spLocks noGrp="1"/>
          </p:cNvSpPr>
          <p:nvPr/>
        </p:nvSpPr>
        <p:spPr>
          <a:xfrm>
            <a:off x="537510" y="1942156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>
              <a:ext uri="{FF2B5EF4-FFF2-40B4-BE49-F238E27FC236}">
                <a16:creationId xmlns:a16="http://schemas.microsoft.com/office/drawing/2014/main" id="{FCCBD5FC-26AC-74DE-B976-855C955A665A}"/>
              </a:ext>
            </a:extLst>
          </p:cNvPr>
          <p:cNvSpPr>
            <a:spLocks noGrp="1"/>
          </p:cNvSpPr>
          <p:nvPr/>
        </p:nvSpPr>
        <p:spPr>
          <a:xfrm>
            <a:off x="414394" y="677474"/>
            <a:ext cx="4280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0</a:t>
            </a:r>
            <a:r>
              <a:rPr lang="pt-BR" sz="8000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3</a:t>
            </a:r>
            <a:endParaRPr sz="8200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209000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F9E96716-79AB-48D6-A88F-389D47EB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Dados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auditados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evitam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vazamento</a:t>
            </a:r>
            <a:endParaRPr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24" name="Google Shape;115;p1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16" name="Google Shape;116;p17">
            <a:extLst>
              <a:ext uri="{FF2B5EF4-FFF2-40B4-BE49-F238E27FC236}">
                <a16:creationId xmlns:a16="http://schemas.microsoft.com/office/drawing/2014/main" id="{6912C249-15A3-408E-9F16-44FA8B84B9DA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>
            <a:extLst>
              <a:ext uri="{FF2B5EF4-FFF2-40B4-BE49-F238E27FC236}">
                <a16:creationId xmlns:a16="http://schemas.microsoft.com/office/drawing/2014/main" id="{5C61ECCF-7072-47E7-AF9E-970A1B86FA7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12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46EB9CA5-A0CC-44BA-98D2-B7A939468CD4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AF585512-044B-4905-893D-2C69C23FD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73666"/>
            <a:ext cx="6237956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5079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CÁPSULA</a:t>
            </a:r>
            <a:endParaRPr lang="pt-BR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  <a:p>
            <a:pPr marL="114300" indent="0">
              <a:buNone/>
            </a:pPr>
            <a:r>
              <a:rPr lang="pt-PT" sz="1400" dirty="0"/>
              <a:t>Para a segmentação da cápsula renal, inicialmente tínhamos </a:t>
            </a:r>
            <a:r>
              <a:rPr lang="pt-PT" sz="1400" b="1" dirty="0"/>
              <a:t>486 registros</a:t>
            </a:r>
            <a:r>
              <a:rPr lang="pt-PT" sz="1400" dirty="0"/>
              <a:t>.</a:t>
            </a:r>
          </a:p>
          <a:p>
            <a:pPr marL="114300" indent="0">
              <a:buNone/>
            </a:pPr>
            <a:endParaRPr lang="pt-PT" sz="1400" dirty="0"/>
          </a:p>
          <a:p>
            <a:pPr marL="114300" indent="0">
              <a:buNone/>
            </a:pPr>
            <a:r>
              <a:rPr lang="pt-PT" sz="1400" dirty="0"/>
              <a:t>Após a auditoria por hash, verificamos que esses registros correspondiam a </a:t>
            </a:r>
            <a:r>
              <a:rPr lang="pt-PT" sz="1400" b="1" dirty="0"/>
              <a:t>468 imagens únicas</a:t>
            </a:r>
            <a:r>
              <a:rPr lang="pt-PT" sz="1400" dirty="0"/>
              <a:t>, com identificação de duplicidades entre as partições originais.</a:t>
            </a:r>
          </a:p>
          <a:p>
            <a:pPr marL="114300" indent="0">
              <a:buNone/>
            </a:pPr>
            <a:endParaRPr lang="pt-PT" sz="1400" dirty="0"/>
          </a:p>
          <a:p>
            <a:pPr marL="114300" indent="0">
              <a:buNone/>
            </a:pPr>
            <a:r>
              <a:rPr lang="pt-PT" sz="1400" dirty="0"/>
              <a:t>Depois da deduplicação e do agrupamento por exame, o conjunto foi dividido em </a:t>
            </a:r>
            <a:r>
              <a:rPr lang="pt-PT" sz="1400" b="1" dirty="0"/>
              <a:t>328 imagens para treinamento, 70 para validação e 70 para teste</a:t>
            </a:r>
            <a:r>
              <a:rPr lang="pt-PT" sz="1400" dirty="0"/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B57949F-5586-6B62-1545-8DAD79945E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701"/>
          <a:stretch>
            <a:fillRect/>
          </a:stretch>
        </p:blipFill>
        <p:spPr>
          <a:xfrm>
            <a:off x="6776484" y="1260349"/>
            <a:ext cx="2055816" cy="357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92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F928-D4ED-CE99-D497-D900B3A3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4395CEC-4695-BBF7-7E72-3A4F9EA6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Dados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auditados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evitam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vazamento</a:t>
            </a:r>
            <a:endParaRPr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24" name="Google Shape;115;p17">
            <a:extLst>
              <a:ext uri="{FF2B5EF4-FFF2-40B4-BE49-F238E27FC236}">
                <a16:creationId xmlns:a16="http://schemas.microsoft.com/office/drawing/2014/main" id="{9F416685-D476-3215-0D69-F9EF3E4C6A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16" name="Google Shape;116;p17">
            <a:extLst>
              <a:ext uri="{FF2B5EF4-FFF2-40B4-BE49-F238E27FC236}">
                <a16:creationId xmlns:a16="http://schemas.microsoft.com/office/drawing/2014/main" id="{D16E67C9-72A7-78AB-C12E-0A62345AD36F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>
            <a:extLst>
              <a:ext uri="{FF2B5EF4-FFF2-40B4-BE49-F238E27FC236}">
                <a16:creationId xmlns:a16="http://schemas.microsoft.com/office/drawing/2014/main" id="{C6DEE738-95BD-5201-814F-0929E4268C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13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3995D2AB-F7D8-B917-98C4-C1BC61DCDF90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1FE5CEC5-E1FF-FD64-61ED-00F662E1F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73666"/>
            <a:ext cx="6237956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5079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ESTRUTURA INTRARRENAIS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  <a:p>
            <a:pPr marL="114300" indent="0">
              <a:buNone/>
            </a:pPr>
            <a:r>
              <a:rPr lang="pt-PT" sz="1400" dirty="0"/>
              <a:t>Para a segmentação das estruturas intrarrenais, utilizamos </a:t>
            </a:r>
            <a:r>
              <a:rPr lang="pt-PT" sz="1400" b="1" dirty="0"/>
              <a:t>335 imagens anotadas manualmente</a:t>
            </a:r>
            <a:r>
              <a:rPr lang="pt-PT" sz="1400" dirty="0"/>
              <a:t>.</a:t>
            </a:r>
          </a:p>
          <a:p>
            <a:pPr marL="114300" indent="0">
              <a:buNone/>
            </a:pPr>
            <a:endParaRPr lang="pt-PT" sz="1400" dirty="0"/>
          </a:p>
          <a:p>
            <a:pPr marL="114300" indent="0">
              <a:buNone/>
            </a:pPr>
            <a:r>
              <a:rPr lang="pt-PT" sz="1400" dirty="0"/>
              <a:t>O particionamento foi realizado </a:t>
            </a:r>
            <a:r>
              <a:rPr lang="pt-PT" sz="1400" b="1" dirty="0"/>
              <a:t>por paciente</a:t>
            </a:r>
            <a:r>
              <a:rPr lang="pt-PT" sz="1400" dirty="0"/>
              <a:t>, de modo que imagens pertencentes ao mesmo indivíduo permanecessem no mesmo conjunto.</a:t>
            </a:r>
          </a:p>
          <a:p>
            <a:pPr marL="114300" indent="0">
              <a:buNone/>
            </a:pPr>
            <a:endParaRPr lang="pt-PT" sz="1400" dirty="0"/>
          </a:p>
          <a:p>
            <a:pPr marL="114300" indent="0">
              <a:buNone/>
            </a:pPr>
            <a:r>
              <a:rPr lang="pt-PT" sz="1400" dirty="0"/>
              <a:t>Após essa separação, o conjunto foi dividido em </a:t>
            </a:r>
            <a:r>
              <a:rPr lang="pt-PT" sz="1400" b="1" dirty="0"/>
              <a:t>235 imagens para treinamento, 50 para validação e 50 para teste</a:t>
            </a:r>
            <a:r>
              <a:rPr lang="pt-PT" sz="1400" dirty="0"/>
              <a:t>.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B60D223-96FE-C409-6DCE-5A234C38D3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111" r="30056"/>
          <a:stretch>
            <a:fillRect/>
          </a:stretch>
        </p:blipFill>
        <p:spPr>
          <a:xfrm>
            <a:off x="6755219" y="1280495"/>
            <a:ext cx="2147776" cy="357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93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5AD1-07B9-C028-72DD-3B773383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AD497117-4588-E58F-0C45-679F276C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Dados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auditados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evitam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vazamento</a:t>
            </a:r>
            <a:endParaRPr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24" name="Google Shape;115;p17">
            <a:extLst>
              <a:ext uri="{FF2B5EF4-FFF2-40B4-BE49-F238E27FC236}">
                <a16:creationId xmlns:a16="http://schemas.microsoft.com/office/drawing/2014/main" id="{6117F909-37C7-A8A7-09ED-4F4EADF80B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16" name="Google Shape;116;p17">
            <a:extLst>
              <a:ext uri="{FF2B5EF4-FFF2-40B4-BE49-F238E27FC236}">
                <a16:creationId xmlns:a16="http://schemas.microsoft.com/office/drawing/2014/main" id="{D2A9D726-3764-81A2-5919-CF8B9B2BA228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>
            <a:extLst>
              <a:ext uri="{FF2B5EF4-FFF2-40B4-BE49-F238E27FC236}">
                <a16:creationId xmlns:a16="http://schemas.microsoft.com/office/drawing/2014/main" id="{8F84687D-3A02-9EB6-9596-FF9C2037CC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14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27CA7541-E682-A91E-33F6-898F29FD784F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FD2FE905-F8D9-1BEB-D3DF-A32AF8978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73666"/>
            <a:ext cx="6237956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5079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MONAI EXTERNO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pt-BR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  <a:p>
            <a:pPr marL="114300" indent="0">
              <a:buNone/>
            </a:pPr>
            <a:r>
              <a:rPr lang="pt-PT" sz="1400" dirty="0"/>
              <a:t>Para o conjunto externo MONAI, utilizamos </a:t>
            </a:r>
            <a:r>
              <a:rPr lang="pt-PT" sz="1400" b="1" dirty="0"/>
              <a:t>4.479 imagens</a:t>
            </a:r>
            <a:r>
              <a:rPr lang="pt-PT" sz="1400" dirty="0"/>
              <a:t> para ampliar a etapa de inferência e gerar candidatos para análise.</a:t>
            </a:r>
          </a:p>
          <a:p>
            <a:pPr marL="114300" indent="0">
              <a:buNone/>
            </a:pPr>
            <a:endParaRPr lang="pt-PT" sz="1400" dirty="0"/>
          </a:p>
          <a:p>
            <a:pPr marL="114300" indent="0">
              <a:buNone/>
            </a:pPr>
            <a:r>
              <a:rPr lang="pt-PT" sz="1400" dirty="0"/>
              <a:t>A U-Net selecionada foi aplicada a esse conjunto e produziu </a:t>
            </a:r>
            <a:r>
              <a:rPr lang="pt-PT" sz="1400" b="1" dirty="0"/>
              <a:t>3.534 pseudomáscaras candidatas</a:t>
            </a:r>
            <a:r>
              <a:rPr lang="pt-PT" sz="1400" dirty="0"/>
              <a:t>.</a:t>
            </a:r>
          </a:p>
          <a:p>
            <a:pPr marL="114300" indent="0">
              <a:buNone/>
            </a:pPr>
            <a:endParaRPr lang="pt-PT" sz="1400" dirty="0"/>
          </a:p>
          <a:p>
            <a:pPr marL="114300" indent="0">
              <a:buNone/>
            </a:pPr>
            <a:r>
              <a:rPr lang="pt-PT" sz="1400" dirty="0"/>
              <a:t>Essas pseudomáscaras permaneceram </a:t>
            </a:r>
            <a:r>
              <a:rPr lang="pt-PT" sz="1400" b="1" dirty="0"/>
              <a:t>pendentes de revisão humana</a:t>
            </a:r>
            <a:r>
              <a:rPr lang="pt-PT" sz="1400" dirty="0"/>
              <a:t> e, por não possuírem referência manual no estudo, </a:t>
            </a:r>
            <a:r>
              <a:rPr lang="pt-PT" sz="1400" b="1" dirty="0"/>
              <a:t>não foram incluídas nas métricas de desempenho apresentadas</a:t>
            </a:r>
            <a:r>
              <a:rPr lang="pt-PT" sz="1400" dirty="0"/>
              <a:t>.</a:t>
            </a:r>
          </a:p>
          <a:p>
            <a:pPr marL="114300" indent="0">
              <a:buNone/>
            </a:pPr>
            <a:r>
              <a:rPr lang="pt-PT" sz="1400" dirty="0"/>
              <a:t>.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36DC3D-B726-B118-5C62-FD603DC5B8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549" t="563" r="-1179" b="-563"/>
          <a:stretch>
            <a:fillRect/>
          </a:stretch>
        </p:blipFill>
        <p:spPr>
          <a:xfrm>
            <a:off x="7067107" y="1280495"/>
            <a:ext cx="1835888" cy="357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06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2D3">
            <a:alpha val="30259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C5546-02B4-2131-522C-93F1D6A4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38;p19">
            <a:extLst>
              <a:ext uri="{FF2B5EF4-FFF2-40B4-BE49-F238E27FC236}">
                <a16:creationId xmlns:a16="http://schemas.microsoft.com/office/drawing/2014/main" id="{CF3E8FAC-B06F-4FFE-A0A4-28D2C9E905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pic>
        <p:nvPicPr>
          <p:cNvPr id="149" name="Google Shape;139;p19">
            <a:extLst>
              <a:ext uri="{FF2B5EF4-FFF2-40B4-BE49-F238E27FC236}">
                <a16:creationId xmlns:a16="http://schemas.microsoft.com/office/drawing/2014/main" id="{CA7003E8-4B99-BD54-EE75-9EE4A9FB9D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28765"/>
          <a:stretch/>
        </p:blipFill>
        <p:spPr>
          <a:xfrm>
            <a:off x="4514026" y="1456426"/>
            <a:ext cx="4427677" cy="2564990"/>
          </a:xfrm>
          <a:prstGeom prst="rect">
            <a:avLst/>
          </a:prstGeom>
          <a:ln>
            <a:noFill/>
          </a:ln>
        </p:spPr>
      </p:pic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5457B699-2174-40CE-C846-88B577F19D74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16BA1AF3-FE03-24F7-7A47-DFE176AB61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15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1D306385-FCB5-1E4A-A7E1-D8C5B4FB4913}"/>
              </a:ext>
            </a:extLst>
          </p:cNvPr>
          <p:cNvSpPr>
            <a:spLocks noGrp="1"/>
          </p:cNvSpPr>
          <p:nvPr/>
        </p:nvSpPr>
        <p:spPr>
          <a:xfrm>
            <a:off x="414402" y="2248500"/>
            <a:ext cx="5942100" cy="1631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r>
              <a:rPr lang="pt-BR" sz="3200" b="1" dirty="0">
                <a:solidFill>
                  <a:srgbClr val="0C5C7C"/>
                </a:solidFill>
                <a:latin typeface="Lato"/>
                <a:ea typeface="Lato"/>
                <a:cs typeface="Lato"/>
              </a:rPr>
              <a:t>Resultados da cápsula</a:t>
            </a:r>
          </a:p>
          <a:p>
            <a:endParaRPr lang="pt-BR" sz="3200" b="1" dirty="0">
              <a:solidFill>
                <a:srgbClr val="0C5C7C"/>
              </a:solidFill>
              <a:latin typeface="Lato"/>
              <a:ea typeface="Lato"/>
              <a:cs typeface="La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75187608-9BB9-B8C8-7E66-912F6A046447}"/>
              </a:ext>
            </a:extLst>
          </p:cNvPr>
          <p:cNvSpPr>
            <a:spLocks noGrp="1"/>
          </p:cNvSpPr>
          <p:nvPr/>
        </p:nvSpPr>
        <p:spPr>
          <a:xfrm>
            <a:off x="382445" y="2938851"/>
            <a:ext cx="42807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r>
              <a:rPr lang="pt-BR" dirty="0">
                <a:solidFill>
                  <a:srgbClr val="0C5C7C"/>
                </a:solidFill>
                <a:latin typeface="Play"/>
              </a:rPr>
              <a:t>Seleção do segmentador renal. </a:t>
            </a: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7F8B0DE8-E84B-CCE1-37D9-81461019EA81}"/>
              </a:ext>
            </a:extLst>
          </p:cNvPr>
          <p:cNvSpPr>
            <a:spLocks noGrp="1"/>
          </p:cNvSpPr>
          <p:nvPr/>
        </p:nvSpPr>
        <p:spPr>
          <a:xfrm>
            <a:off x="537510" y="1942156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>
              <a:ext uri="{FF2B5EF4-FFF2-40B4-BE49-F238E27FC236}">
                <a16:creationId xmlns:a16="http://schemas.microsoft.com/office/drawing/2014/main" id="{B53525B1-39A4-3121-7134-EACDB054B674}"/>
              </a:ext>
            </a:extLst>
          </p:cNvPr>
          <p:cNvSpPr>
            <a:spLocks noGrp="1"/>
          </p:cNvSpPr>
          <p:nvPr/>
        </p:nvSpPr>
        <p:spPr>
          <a:xfrm>
            <a:off x="414394" y="677474"/>
            <a:ext cx="4280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0</a:t>
            </a:r>
            <a:r>
              <a:rPr lang="pt-BR" sz="8000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4</a:t>
            </a:r>
            <a:endParaRPr sz="8200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39761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U-Net lidera a segmentação da cápsula</a:t>
            </a:r>
          </a:p>
        </p:txBody>
      </p:sp>
      <p:pic>
        <p:nvPicPr>
          <p:cNvPr id="136" name="Google Shape;127;p18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16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7679C2EE-B596-42A9-85CF-578632DB3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797" y="1460100"/>
            <a:ext cx="3445136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7188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TESTE DEDUPLICADO</a:t>
            </a:r>
            <a:endParaRPr sz="1300" dirty="0">
              <a:solidFill>
                <a:srgbClr val="5E5E5E"/>
              </a:solidFill>
              <a:latin typeface="Lato"/>
              <a:ea typeface="Lato"/>
              <a:cs typeface="Lato"/>
            </a:endParaRPr>
          </a:p>
          <a:p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 dirty="0"/>
              <a:t>No teste deduplicado com 70 imagens, a U-Net apresentou o maior Dice entre as arquiteturas avaliadas, alcançando </a:t>
            </a:r>
            <a:r>
              <a:rPr lang="pt-PT" sz="1400" b="1" dirty="0"/>
              <a:t>0,9290 de Dice, 0,8722 de IoU, 0,9236 de precisão e 0,9440 de recall</a:t>
            </a:r>
            <a:r>
              <a:rPr lang="pt-PT" sz="1400" dirty="0"/>
              <a:t>. Por esse desempenho, foi selecionada para localizar o rim na cascata. </a:t>
            </a:r>
            <a:endParaRPr sz="1300" dirty="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C9610B-DF33-0C35-9187-90079AF20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75051" y="1519411"/>
            <a:ext cx="4681851" cy="243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7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516D-A876-54CF-CAE2-73C28A20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F26A7612-96E0-1793-3E45-72DD04330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U-Net lidera a segmentação da cápsula</a:t>
            </a:r>
          </a:p>
        </p:txBody>
      </p:sp>
      <p:pic>
        <p:nvPicPr>
          <p:cNvPr id="136" name="Google Shape;127;p18">
            <a:extLst>
              <a:ext uri="{FF2B5EF4-FFF2-40B4-BE49-F238E27FC236}">
                <a16:creationId xmlns:a16="http://schemas.microsoft.com/office/drawing/2014/main" id="{208602F0-7223-3B45-E04F-7376B8F303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C2DE41B8-91E6-FD92-B1D9-2445C905DE50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B9436D90-5E46-B3AC-C768-BB86A8EE64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17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BE7CEC81-6452-39BF-6CFC-4FAD4B69836B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>
            <a:extLst>
              <a:ext uri="{FF2B5EF4-FFF2-40B4-BE49-F238E27FC236}">
                <a16:creationId xmlns:a16="http://schemas.microsoft.com/office/drawing/2014/main" id="{4C76FEE9-15BC-41C7-A7E8-0D24C7B8471F}"/>
              </a:ext>
            </a:extLst>
          </p:cNvPr>
          <p:cNvSpPr txBox="1">
            <a:spLocks/>
          </p:cNvSpPr>
          <p:nvPr/>
        </p:nvSpPr>
        <p:spPr>
          <a:xfrm>
            <a:off x="311700" y="1442670"/>
            <a:ext cx="3473491" cy="3508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pt-BR" b="1" kern="0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COMPARAÇÃO</a:t>
            </a:r>
            <a:endParaRPr lang="pt-BR" sz="1300" kern="0" dirty="0">
              <a:solidFill>
                <a:srgbClr val="5E5E5E"/>
              </a:solidFill>
              <a:latin typeface="Lato"/>
              <a:ea typeface="Lato"/>
              <a:cs typeface="Lato"/>
            </a:endParaRPr>
          </a:p>
          <a:p>
            <a:pPr mar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 dirty="0"/>
              <a:t>A U-Net apresentou o melhor desempenho global na segmentação da cápsula, com maior Dice (0,9290), enquanto o SegFormer-B0 apresentou a maior velocidade de inferência (31,34 FPS). Como a prioridade da etapa era a concordância espacial com a anotação manual, a U-Net foi selecionada para a cascata.</a:t>
            </a:r>
            <a:endParaRPr lang="pt-BR" sz="1300" kern="0" dirty="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75962F6-A97B-887B-1778-87414196D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863" y="1545122"/>
            <a:ext cx="4945357" cy="275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66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2D3">
            <a:alpha val="30259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D9823-F3CA-A3CE-9657-FA864AB2A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38;p19">
            <a:extLst>
              <a:ext uri="{FF2B5EF4-FFF2-40B4-BE49-F238E27FC236}">
                <a16:creationId xmlns:a16="http://schemas.microsoft.com/office/drawing/2014/main" id="{1EACB4C5-C47C-4339-78E9-9951E0287D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pic>
        <p:nvPicPr>
          <p:cNvPr id="149" name="Google Shape;139;p19">
            <a:extLst>
              <a:ext uri="{FF2B5EF4-FFF2-40B4-BE49-F238E27FC236}">
                <a16:creationId xmlns:a16="http://schemas.microsoft.com/office/drawing/2014/main" id="{D6102A2C-4039-DF1E-94E5-5035B6BB28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28765"/>
          <a:stretch/>
        </p:blipFill>
        <p:spPr>
          <a:xfrm>
            <a:off x="4514026" y="1456426"/>
            <a:ext cx="4427677" cy="2564990"/>
          </a:xfrm>
          <a:prstGeom prst="rect">
            <a:avLst/>
          </a:prstGeom>
          <a:ln>
            <a:noFill/>
          </a:ln>
        </p:spPr>
      </p:pic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FB189651-C990-A05C-5CF8-75A7EF414D77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43DD3CBE-67EA-9DA8-F6A7-031AAE143F8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18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130865FF-4097-5427-E3C2-28E6CA662167}"/>
              </a:ext>
            </a:extLst>
          </p:cNvPr>
          <p:cNvSpPr>
            <a:spLocks noGrp="1"/>
          </p:cNvSpPr>
          <p:nvPr/>
        </p:nvSpPr>
        <p:spPr>
          <a:xfrm>
            <a:off x="414402" y="2248500"/>
            <a:ext cx="59421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r>
              <a:rPr lang="pt-BR" sz="3200" b="1" dirty="0">
                <a:solidFill>
                  <a:srgbClr val="0C5C7C"/>
                </a:solidFill>
                <a:latin typeface="Lato"/>
                <a:ea typeface="Lato"/>
                <a:cs typeface="Lato"/>
              </a:rPr>
              <a:t>Consenso e regiões internas</a:t>
            </a: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505DA1B8-E3A4-0753-D605-BCBA7E3364C9}"/>
              </a:ext>
            </a:extLst>
          </p:cNvPr>
          <p:cNvSpPr>
            <a:spLocks noGrp="1"/>
          </p:cNvSpPr>
          <p:nvPr/>
        </p:nvSpPr>
        <p:spPr>
          <a:xfrm>
            <a:off x="382445" y="2938851"/>
            <a:ext cx="42807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r>
              <a:rPr lang="pt-BR" dirty="0">
                <a:solidFill>
                  <a:srgbClr val="0C5C7C"/>
                </a:solidFill>
                <a:latin typeface="Play"/>
              </a:rPr>
              <a:t>Triagem e segmentação </a:t>
            </a:r>
            <a:r>
              <a:rPr lang="pt-BR" dirty="0" err="1">
                <a:solidFill>
                  <a:srgbClr val="0C5C7C"/>
                </a:solidFill>
                <a:latin typeface="Play"/>
              </a:rPr>
              <a:t>multiclasse</a:t>
            </a:r>
            <a:r>
              <a:rPr lang="pt-BR" dirty="0">
                <a:solidFill>
                  <a:srgbClr val="0C5C7C"/>
                </a:solidFill>
                <a:latin typeface="Play"/>
              </a:rPr>
              <a:t>. </a:t>
            </a: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D502E0EF-D458-D166-0D86-DCE796FFA879}"/>
              </a:ext>
            </a:extLst>
          </p:cNvPr>
          <p:cNvSpPr>
            <a:spLocks noGrp="1"/>
          </p:cNvSpPr>
          <p:nvPr/>
        </p:nvSpPr>
        <p:spPr>
          <a:xfrm>
            <a:off x="537510" y="1942156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>
              <a:ext uri="{FF2B5EF4-FFF2-40B4-BE49-F238E27FC236}">
                <a16:creationId xmlns:a16="http://schemas.microsoft.com/office/drawing/2014/main" id="{13B163AF-B24D-4881-0D1E-F32D5A0D807D}"/>
              </a:ext>
            </a:extLst>
          </p:cNvPr>
          <p:cNvSpPr>
            <a:spLocks noGrp="1"/>
          </p:cNvSpPr>
          <p:nvPr/>
        </p:nvSpPr>
        <p:spPr>
          <a:xfrm>
            <a:off x="414394" y="677474"/>
            <a:ext cx="4280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0</a:t>
            </a:r>
            <a:r>
              <a:rPr lang="pt-BR" sz="8000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5</a:t>
            </a:r>
            <a:endParaRPr sz="8200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241962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Consenso prioriza a revisão das pseudomáscaras</a:t>
            </a:r>
          </a:p>
        </p:txBody>
      </p:sp>
      <p:pic>
        <p:nvPicPr>
          <p:cNvPr id="136" name="Google Shape;127;p18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19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7679C2EE-B596-42A9-85CF-578632DB3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473666"/>
            <a:ext cx="3402608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7188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CALIBRAÇÃO</a:t>
            </a:r>
          </a:p>
          <a:p>
            <a:pPr marL="0" lvl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00" dirty="0"/>
              <a:t>O consenso entre U-Net e DeepLabV3 foi calibrado nas 468 imagens manuais e apresentou média de </a:t>
            </a:r>
            <a:r>
              <a:rPr lang="pt-PT" sz="1400" b="1" dirty="0"/>
              <a:t>0,9416</a:t>
            </a:r>
            <a:r>
              <a:rPr lang="pt-PT" sz="1400" dirty="0"/>
              <a:t>. Os limiares definidos classificam a concordância em alta, intermediária e baixa, funcionando como indicador operacional para priorizar a revisão humana.</a:t>
            </a:r>
            <a:endParaRPr sz="1300" dirty="0">
              <a:solidFill>
                <a:srgbClr val="5E5E5E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50CDC23-9957-74C4-A4B6-FAE3A69BB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340" y="1224862"/>
            <a:ext cx="4909985" cy="316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7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7496-5C5E-19BF-0810-9284EB70E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9FEFF56A-A282-2660-9AAC-FD4EE363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7478421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lvl="0"/>
            <a:r>
              <a:rPr lang="pt-PT" b="1" dirty="0">
                <a:solidFill>
                  <a:srgbClr val="0C5C7C"/>
                </a:solidFill>
                <a:latin typeface="Play"/>
              </a:rPr>
              <a:t>Triagem externa organiza a revisão das pseudomáscaras</a:t>
            </a:r>
            <a:endParaRPr b="1" dirty="0">
              <a:solidFill>
                <a:srgbClr val="0C5C7C"/>
              </a:solidFill>
              <a:latin typeface="Play"/>
            </a:endParaRPr>
          </a:p>
        </p:txBody>
      </p:sp>
      <p:pic>
        <p:nvPicPr>
          <p:cNvPr id="136" name="Google Shape;127;p18">
            <a:extLst>
              <a:ext uri="{FF2B5EF4-FFF2-40B4-BE49-F238E27FC236}">
                <a16:creationId xmlns:a16="http://schemas.microsoft.com/office/drawing/2014/main" id="{328E7AE5-5600-6AC4-3428-6CA1C472B7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48799DB6-365C-78B5-34BD-CDCF94E9053B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63A33509-B988-47A5-66BE-C5B40612FB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20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EB89C214-0516-A4FF-4ED1-3E6FD60CCD4F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>
            <a:extLst>
              <a:ext uri="{FF2B5EF4-FFF2-40B4-BE49-F238E27FC236}">
                <a16:creationId xmlns:a16="http://schemas.microsoft.com/office/drawing/2014/main" id="{4C76FEE9-15BC-41C7-A7E8-0D24C7B84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42671"/>
            <a:ext cx="3360077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81034" lnSpcReduction="20000"/>
          </a:bodyPr>
          <a:lstStyle/>
          <a:p>
            <a:pPr marL="114300" indent="0">
              <a:buNone/>
            </a:pPr>
            <a:r>
              <a:rPr lang="pt-PT" dirty="0"/>
              <a:t>O consenso entre os modelos permitiu estratificar as </a:t>
            </a:r>
            <a:r>
              <a:rPr lang="pt-PT" b="1" dirty="0"/>
              <a:t>4.479 imagens externas</a:t>
            </a:r>
            <a:r>
              <a:rPr lang="pt-PT" dirty="0"/>
              <a:t> segundo a necessidade de revisão. Casos com menor concordância ou segmentação isolada foram priorizados, enquanto imagens com alta concordância seguiram para revisão de rotina.</a:t>
            </a:r>
          </a:p>
          <a:p>
            <a:endParaRPr lang="pt-PT" dirty="0"/>
          </a:p>
          <a:p>
            <a:pPr marL="114300" indent="0">
              <a:buNone/>
            </a:pPr>
            <a:r>
              <a:rPr lang="pt-PT" b="1" dirty="0"/>
              <a:t>Importante:</a:t>
            </a:r>
            <a:r>
              <a:rPr lang="pt-PT" dirty="0"/>
              <a:t> essa distribuição mede concordância entre arquiteturas e cobertura da triagem, não acurácia externa.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D34B67-66BC-4D9E-C137-8D1AE22089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685" b="-132"/>
          <a:stretch>
            <a:fillRect/>
          </a:stretch>
        </p:blipFill>
        <p:spPr>
          <a:xfrm>
            <a:off x="4082275" y="1442671"/>
            <a:ext cx="4750025" cy="284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24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R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esultado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intrarrenal</a:t>
            </a:r>
            <a:endParaRPr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36" name="Google Shape;127;p18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21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752200B-8C13-9D32-1068-1DDB8FB9A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862272" cy="3416400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pt-PT" dirty="0"/>
              <a:t>Após a delimitação da cápsula, a região renal é utilizada como ROI para a segmentação de </a:t>
            </a:r>
            <a:r>
              <a:rPr lang="pt-PT" b="1" dirty="0"/>
              <a:t>córtex, medula e complexo ecogênico central (CEC)</a:t>
            </a:r>
            <a:r>
              <a:rPr lang="pt-PT" dirty="0"/>
              <a:t>.</a:t>
            </a:r>
          </a:p>
          <a:p>
            <a:pPr marL="114300" indent="0">
              <a:buNone/>
            </a:pPr>
            <a:endParaRPr lang="pt-PT" dirty="0"/>
          </a:p>
          <a:p>
            <a:pPr marL="114300" indent="0">
              <a:buNone/>
            </a:pPr>
            <a:r>
              <a:rPr lang="pt-PT" dirty="0"/>
              <a:t>No teste manual com </a:t>
            </a:r>
            <a:r>
              <a:rPr lang="pt-PT" b="1" dirty="0"/>
              <a:t>50 imagens</a:t>
            </a:r>
            <a:r>
              <a:rPr lang="pt-PT" dirty="0"/>
              <a:t>, a U-Net apresentou melhor desempenho para </a:t>
            </a:r>
            <a:r>
              <a:rPr lang="pt-PT" b="1" dirty="0"/>
              <a:t>córtex (Dice 0,7075)</a:t>
            </a:r>
            <a:r>
              <a:rPr lang="pt-PT" dirty="0"/>
              <a:t> e </a:t>
            </a:r>
            <a:r>
              <a:rPr lang="pt-PT" b="1" dirty="0"/>
              <a:t>medula (0,7237)</a:t>
            </a:r>
            <a:r>
              <a:rPr lang="pt-PT" dirty="0"/>
              <a:t>, enquanto a DeepLabV3 foi ligeiramente superior no </a:t>
            </a:r>
            <a:r>
              <a:rPr lang="pt-PT" b="1" dirty="0"/>
              <a:t>CEC (0,8497)</a:t>
            </a:r>
            <a:r>
              <a:rPr lang="pt-PT" dirty="0"/>
              <a:t>.</a:t>
            </a:r>
          </a:p>
          <a:p>
            <a:pPr marL="114300" indent="0">
              <a:buNone/>
            </a:pPr>
            <a:endParaRPr lang="pt-PT" dirty="0"/>
          </a:p>
          <a:p>
            <a:pPr marL="114300" indent="0">
              <a:buNone/>
            </a:pPr>
            <a:r>
              <a:rPr lang="pt-PT" dirty="0"/>
              <a:t>Considerando o desempenho agregado, a </a:t>
            </a:r>
            <a:r>
              <a:rPr lang="pt-PT" b="1" dirty="0"/>
              <a:t>U-Net alcançou Dice médio de 0,7594</a:t>
            </a:r>
            <a:r>
              <a:rPr lang="pt-PT" dirty="0"/>
              <a:t>, superior ao </a:t>
            </a:r>
            <a:r>
              <a:rPr lang="pt-PT" b="1" dirty="0"/>
              <a:t>0,7492</a:t>
            </a:r>
            <a:r>
              <a:rPr lang="pt-PT" dirty="0"/>
              <a:t> da DeepLabV3, e foi mantida como modelo intrarrenal da cascata.</a:t>
            </a:r>
          </a:p>
          <a:p>
            <a:pPr marL="114300" indent="0">
              <a:buNone/>
            </a:pPr>
            <a:endParaRPr lang="pt-PT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05A8214-585F-F558-1BD1-4CE578E21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202" y="977728"/>
            <a:ext cx="2394098" cy="359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7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AB39202C-EB18-47BD-98DC-563BDE25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C5C7C"/>
                </a:solidFill>
                <a:latin typeface="Play"/>
                <a:ea typeface="Play"/>
                <a:cs typeface="Play"/>
              </a:rPr>
              <a:t>Qualidade de imagem limita a cascata</a:t>
            </a:r>
          </a:p>
        </p:txBody>
      </p:sp>
      <p:pic>
        <p:nvPicPr>
          <p:cNvPr id="136" name="Google Shape;127;p18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DAAB4BC5-1048-4849-8393-00A3B802FCE0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50DF9137-79DE-4382-97BF-5AB470A2D0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22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BB6F62CF-4E6C-46BE-8D96-A4F1AD12FC77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7679C2EE-B596-42A9-85CF-578632DB3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473666"/>
            <a:ext cx="5848095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114300" indent="0">
              <a:buNone/>
            </a:pPr>
            <a:r>
              <a:rPr lang="pt-PT" sz="1700" dirty="0"/>
              <a:t>A segmentação inicial da cápsula depende diretamente da qualidade da ultrassonografia. </a:t>
            </a:r>
            <a:r>
              <a:rPr lang="pt-PT" sz="1700" b="1" dirty="0"/>
              <a:t>Baixo contraste, sombras acústicas, ruído e perda de detalhes</a:t>
            </a:r>
            <a:r>
              <a:rPr lang="pt-PT" sz="1700" dirty="0"/>
              <a:t> podem dificultar a identificação dos limites renais.</a:t>
            </a:r>
          </a:p>
          <a:p>
            <a:pPr marL="114300" indent="0">
              <a:buNone/>
            </a:pPr>
            <a:endParaRPr lang="pt-PT" sz="1700" dirty="0"/>
          </a:p>
          <a:p>
            <a:pPr marL="114300" indent="0">
              <a:buNone/>
            </a:pPr>
            <a:r>
              <a:rPr lang="pt-PT" sz="1700" dirty="0"/>
              <a:t>Como as etapas são encadeadas, uma máscara incompleta ou que inclua tecido adjacente modifica a região de interesse e pode comprometer a segmentação das estruturas intrarrenais.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AC0DABC-B9BB-10EB-2BF2-C872916A6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976" y="857129"/>
            <a:ext cx="2635745" cy="385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7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2D3">
            <a:alpha val="30259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72CA0-36CC-7F49-1E38-5F90EF05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38;p19">
            <a:extLst>
              <a:ext uri="{FF2B5EF4-FFF2-40B4-BE49-F238E27FC236}">
                <a16:creationId xmlns:a16="http://schemas.microsoft.com/office/drawing/2014/main" id="{5BD86E66-7808-27EA-9E6F-7EBD15B898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pic>
        <p:nvPicPr>
          <p:cNvPr id="149" name="Google Shape;139;p19">
            <a:extLst>
              <a:ext uri="{FF2B5EF4-FFF2-40B4-BE49-F238E27FC236}">
                <a16:creationId xmlns:a16="http://schemas.microsoft.com/office/drawing/2014/main" id="{BE063223-3CA1-7BB9-704E-DB75F8D83D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28765"/>
          <a:stretch/>
        </p:blipFill>
        <p:spPr>
          <a:xfrm>
            <a:off x="4514026" y="1456426"/>
            <a:ext cx="4427677" cy="2564990"/>
          </a:xfrm>
          <a:prstGeom prst="rect">
            <a:avLst/>
          </a:prstGeom>
          <a:ln>
            <a:noFill/>
          </a:ln>
        </p:spPr>
      </p:pic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B1D72195-C9F8-19AF-43B3-F6802EE6414E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E3D7E922-6973-62DF-743D-25EA0DAB27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23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2972C016-E746-1BCD-B0BF-149CD70CC2E5}"/>
              </a:ext>
            </a:extLst>
          </p:cNvPr>
          <p:cNvSpPr>
            <a:spLocks noGrp="1"/>
          </p:cNvSpPr>
          <p:nvPr/>
        </p:nvSpPr>
        <p:spPr>
          <a:xfrm>
            <a:off x="414402" y="2248500"/>
            <a:ext cx="59421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pt-BR" sz="3200" b="1" dirty="0">
                <a:solidFill>
                  <a:srgbClr val="0C5C7C"/>
                </a:solidFill>
                <a:latin typeface="Lato"/>
                <a:ea typeface="Lato"/>
                <a:cs typeface="Lato"/>
              </a:rPr>
              <a:t>Conclusões</a:t>
            </a: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5F8BF583-AAF4-244A-53FA-5C0688016FBE}"/>
              </a:ext>
            </a:extLst>
          </p:cNvPr>
          <p:cNvSpPr>
            <a:spLocks noGrp="1"/>
          </p:cNvSpPr>
          <p:nvPr/>
        </p:nvSpPr>
        <p:spPr>
          <a:xfrm>
            <a:off x="382445" y="2938851"/>
            <a:ext cx="42807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r>
              <a:rPr lang="pt-BR" dirty="0">
                <a:solidFill>
                  <a:srgbClr val="0C5C7C"/>
                </a:solidFill>
                <a:latin typeface="Play"/>
              </a:rPr>
              <a:t>Limites e próximos passos. </a:t>
            </a: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31FCE5CB-1D86-79BE-1F1F-F4907AE78B36}"/>
              </a:ext>
            </a:extLst>
          </p:cNvPr>
          <p:cNvSpPr>
            <a:spLocks noGrp="1"/>
          </p:cNvSpPr>
          <p:nvPr/>
        </p:nvSpPr>
        <p:spPr>
          <a:xfrm>
            <a:off x="537510" y="1942156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">
            <a:extLst>
              <a:ext uri="{FF2B5EF4-FFF2-40B4-BE49-F238E27FC236}">
                <a16:creationId xmlns:a16="http://schemas.microsoft.com/office/drawing/2014/main" id="{DE769A1C-A593-4189-37A4-714E81780BBD}"/>
              </a:ext>
            </a:extLst>
          </p:cNvPr>
          <p:cNvSpPr>
            <a:spLocks noGrp="1"/>
          </p:cNvSpPr>
          <p:nvPr/>
        </p:nvSpPr>
        <p:spPr>
          <a:xfrm>
            <a:off x="414394" y="677474"/>
            <a:ext cx="4280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0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0</a:t>
            </a:r>
            <a:r>
              <a:rPr lang="pt-BR" sz="8000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6</a:t>
            </a:r>
            <a:endParaRPr sz="8200"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459758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>
            <a:extLst>
              <a:ext uri="{FF2B5EF4-FFF2-40B4-BE49-F238E27FC236}">
                <a16:creationId xmlns:a16="http://schemas.microsoft.com/office/drawing/2014/main" id="{D4636B13-6D85-47EF-B293-F4A1F1B00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44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Conclusão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: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uma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cascata</a:t>
            </a:r>
            <a:r>
              <a:rPr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</a:t>
            </a:r>
            <a:r>
              <a:rPr b="1" dirty="0" err="1">
                <a:solidFill>
                  <a:srgbClr val="0C5C7C"/>
                </a:solidFill>
                <a:latin typeface="Play"/>
                <a:ea typeface="Play"/>
                <a:cs typeface="Play"/>
              </a:rPr>
              <a:t>rastreável</a:t>
            </a:r>
            <a:r>
              <a:rPr lang="pt-BR" b="1" dirty="0">
                <a:solidFill>
                  <a:srgbClr val="0C5C7C"/>
                </a:solidFill>
                <a:latin typeface="Play"/>
                <a:ea typeface="Play"/>
                <a:cs typeface="Play"/>
              </a:rPr>
              <a:t> para análise renal</a:t>
            </a:r>
            <a:endParaRPr b="1" dirty="0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pic>
        <p:nvPicPr>
          <p:cNvPr id="168" name="Google Shape;161;p21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sp>
        <p:nvSpPr>
          <p:cNvPr id="162" name="Google Shape;162;p21">
            <a:extLst>
              <a:ext uri="{FF2B5EF4-FFF2-40B4-BE49-F238E27FC236}">
                <a16:creationId xmlns:a16="http://schemas.microsoft.com/office/drawing/2014/main" id="{E16404EC-43DB-4833-A406-45180DF14C6C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1">
            <a:extLst>
              <a:ext uri="{FF2B5EF4-FFF2-40B4-BE49-F238E27FC236}">
                <a16:creationId xmlns:a16="http://schemas.microsoft.com/office/drawing/2014/main" id="{7CD7D9AF-272B-45C6-BF0C-E45C7073C06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24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8CD78DD7-6950-482F-B930-06F1ED788282}"/>
              </a:ext>
            </a:extLst>
          </p:cNvPr>
          <p:cNvSpPr>
            <a:spLocks noGrp="1"/>
          </p:cNvSpPr>
          <p:nvPr/>
        </p:nvSpPr>
        <p:spPr>
          <a:xfrm>
            <a:off x="397797" y="1169929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55733856-E769-476E-B378-BA85A092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5183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6315" lnSpcReduction="20000"/>
          </a:bodyPr>
          <a:lstStyle/>
          <a:p>
            <a:pPr marL="114300" indent="0">
              <a:buNone/>
            </a:pPr>
            <a:r>
              <a:rPr lang="pt-PT" dirty="0"/>
              <a:t>O trabalho apresentou uma cascata rastreável para análise de ultrassonografias renais, iniciando pela delimitação da cápsula, seguida pela verificação por consenso entre modelos e pela segmentação das estruturas intrarrenais.</a:t>
            </a:r>
          </a:p>
          <a:p>
            <a:pPr marL="114300" indent="0">
              <a:buNone/>
            </a:pPr>
            <a:endParaRPr lang="pt-PT" dirty="0"/>
          </a:p>
          <a:p>
            <a:pPr marL="114300" indent="0">
              <a:buNone/>
            </a:pPr>
            <a:r>
              <a:rPr lang="pt-PT" dirty="0"/>
              <a:t>Na primeira etapa, a </a:t>
            </a:r>
            <a:r>
              <a:rPr lang="pt-PT" b="1" dirty="0"/>
              <a:t>U-Net apresentou Dice de 0,9290</a:t>
            </a:r>
            <a:r>
              <a:rPr lang="pt-PT" dirty="0"/>
              <a:t> no teste deduplicado e foi selecionada para localizar o rim. Em seguida, o consenso com a </a:t>
            </a:r>
            <a:r>
              <a:rPr lang="pt-PT" b="1" dirty="0"/>
              <a:t>DeepLabV3</a:t>
            </a:r>
            <a:r>
              <a:rPr lang="pt-PT" dirty="0"/>
              <a:t> foi utilizado como indicador operacional para organizar a revisão das </a:t>
            </a:r>
            <a:r>
              <a:rPr lang="pt-PT" b="1" dirty="0"/>
              <a:t>3.534 pseudomáscaras externas</a:t>
            </a:r>
            <a:r>
              <a:rPr lang="pt-PT" dirty="0"/>
              <a:t>, sem substituir a validação por especialistas.</a:t>
            </a:r>
          </a:p>
          <a:p>
            <a:pPr marL="114300" indent="0">
              <a:buNone/>
            </a:pPr>
            <a:endParaRPr lang="pt-PT" dirty="0"/>
          </a:p>
          <a:p>
            <a:pPr marL="114300" indent="0">
              <a:buNone/>
            </a:pPr>
            <a:r>
              <a:rPr lang="pt-PT" dirty="0"/>
              <a:t>Na etapa intrarrenal, a U-Net alcançou </a:t>
            </a:r>
            <a:r>
              <a:rPr lang="pt-PT" b="1" dirty="0"/>
              <a:t>Dice médio de 0,7594</a:t>
            </a:r>
            <a:r>
              <a:rPr lang="pt-PT" dirty="0"/>
              <a:t> no conjunto de teste manual, permitindo a identificação de córtex, medula e complexo ecogênico central.</a:t>
            </a:r>
          </a:p>
          <a:p>
            <a:pPr marL="114300" indent="0">
              <a:buNone/>
            </a:pPr>
            <a:endParaRPr lang="pt-PT" dirty="0"/>
          </a:p>
          <a:p>
            <a:pPr marL="114300" indent="0">
              <a:buNone/>
            </a:pPr>
            <a:r>
              <a:rPr lang="pt-PT" dirty="0"/>
              <a:t>Como próximos passos, pretende-se incorporar ao treinamento apenas pseudomáscaras revisadas e estabelecer uma </a:t>
            </a:r>
            <a:r>
              <a:rPr lang="pt-PT" b="1" dirty="0"/>
              <a:t>referência clínica ou histológica</a:t>
            </a:r>
            <a:r>
              <a:rPr lang="pt-PT" dirty="0"/>
              <a:t>, permitindo investigar de forma mais consistente a associação entre regiões hiperecogênicas e alterações funcionais do rim.</a:t>
            </a:r>
          </a:p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218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2D3">
            <a:alpha val="3025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70;p2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21" y="161270"/>
            <a:ext cx="1250900" cy="516214"/>
          </a:xfrm>
          <a:prstGeom prst="rect">
            <a:avLst/>
          </a:prstGeom>
          <a:ln>
            <a:noFill/>
          </a:ln>
        </p:spPr>
      </p:pic>
      <p:pic>
        <p:nvPicPr>
          <p:cNvPr id="181" name="Google Shape;171;p22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28765"/>
          <a:stretch/>
        </p:blipFill>
        <p:spPr>
          <a:xfrm>
            <a:off x="4514026" y="1456426"/>
            <a:ext cx="4427677" cy="2564990"/>
          </a:xfrm>
          <a:prstGeom prst="rect">
            <a:avLst/>
          </a:prstGeom>
          <a:ln>
            <a:noFill/>
          </a:ln>
        </p:spPr>
      </p:pic>
      <p:sp>
        <p:nvSpPr>
          <p:cNvPr id="172" name="Google Shape;172;p22">
            <a:extLst>
              <a:ext uri="{FF2B5EF4-FFF2-40B4-BE49-F238E27FC236}">
                <a16:creationId xmlns:a16="http://schemas.microsoft.com/office/drawing/2014/main" id="{12208A22-5457-43CB-8B2C-5C64900ADC72}"/>
              </a:ext>
            </a:extLst>
          </p:cNvPr>
          <p:cNvSpPr>
            <a:spLocks noGrp="1"/>
          </p:cNvSpPr>
          <p:nvPr/>
        </p:nvSpPr>
        <p:spPr>
          <a:xfrm>
            <a:off x="0" y="4951650"/>
            <a:ext cx="9144000" cy="192000"/>
          </a:xfrm>
          <a:prstGeom prst="rect">
            <a:avLst/>
          </a:prstGeom>
          <a:solidFill>
            <a:srgbClr val="0C5C7C"/>
          </a:solidFill>
          <a:ln w="9525" cmpd="sng">
            <a:solidFill>
              <a:srgbClr val="0C5C7C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2">
            <a:extLst>
              <a:ext uri="{FF2B5EF4-FFF2-40B4-BE49-F238E27FC236}">
                <a16:creationId xmlns:a16="http://schemas.microsoft.com/office/drawing/2014/main" id="{FEB0AE3B-5C6B-4A20-99D4-5B6586D1B9D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12975" y="4876500"/>
            <a:ext cx="548700" cy="342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200">
                <a:solidFill>
                  <a:srgbClr val="C1D9E2"/>
                </a:solidFill>
                <a:latin typeface="Roboto Black"/>
                <a:ea typeface="Roboto Black"/>
                <a:cs typeface="Roboto Black"/>
              </a:rPr>
              <a:t>25</a:t>
            </a:fld>
            <a:endParaRPr sz="1200">
              <a:solidFill>
                <a:srgbClr val="C1D9E2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74" name="Google Shape;174;p22">
            <a:extLst>
              <a:ext uri="{FF2B5EF4-FFF2-40B4-BE49-F238E27FC236}">
                <a16:creationId xmlns:a16="http://schemas.microsoft.com/office/drawing/2014/main" id="{28589C5B-8F70-41D2-9CF4-680C4E6EE6EF}"/>
              </a:ext>
            </a:extLst>
          </p:cNvPr>
          <p:cNvSpPr>
            <a:spLocks noGrp="1"/>
          </p:cNvSpPr>
          <p:nvPr/>
        </p:nvSpPr>
        <p:spPr>
          <a:xfrm>
            <a:off x="558410" y="2346406"/>
            <a:ext cx="900000" cy="27600"/>
          </a:xfrm>
          <a:prstGeom prst="rect">
            <a:avLst/>
          </a:prstGeom>
          <a:solidFill>
            <a:srgbClr val="A2D462"/>
          </a:solidFill>
          <a:ln w="9525" cmpd="sng">
            <a:solidFill>
              <a:srgbClr val="A2D4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>
            <a:extLst>
              <a:ext uri="{FF2B5EF4-FFF2-40B4-BE49-F238E27FC236}">
                <a16:creationId xmlns:a16="http://schemas.microsoft.com/office/drawing/2014/main" id="{6ED688E7-CA11-4D71-A1F2-90A89E90A7B5}"/>
              </a:ext>
            </a:extLst>
          </p:cNvPr>
          <p:cNvSpPr>
            <a:spLocks noGrp="1"/>
          </p:cNvSpPr>
          <p:nvPr/>
        </p:nvSpPr>
        <p:spPr>
          <a:xfrm>
            <a:off x="442103" y="1171775"/>
            <a:ext cx="6844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800" b="1">
                <a:solidFill>
                  <a:srgbClr val="0C5C7C"/>
                </a:solidFill>
                <a:latin typeface="Play"/>
                <a:ea typeface="Play"/>
                <a:cs typeface="Play"/>
              </a:rPr>
              <a:t>OBRIGADO!</a:t>
            </a:r>
            <a:endParaRPr sz="6000" b="1">
              <a:solidFill>
                <a:srgbClr val="0C5C7C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176" name="Google Shape;176;p22">
            <a:extLst>
              <a:ext uri="{FF2B5EF4-FFF2-40B4-BE49-F238E27FC236}">
                <a16:creationId xmlns:a16="http://schemas.microsoft.com/office/drawing/2014/main" id="{E7F982C2-8D5B-41BD-9966-99BB64140E2C}"/>
              </a:ext>
            </a:extLst>
          </p:cNvPr>
          <p:cNvSpPr>
            <a:spLocks noGrp="1"/>
          </p:cNvSpPr>
          <p:nvPr/>
        </p:nvSpPr>
        <p:spPr>
          <a:xfrm>
            <a:off x="442094" y="2538826"/>
            <a:ext cx="4280700" cy="82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0C5C7C"/>
                </a:solidFill>
                <a:latin typeface="Lato"/>
                <a:ea typeface="Lato"/>
                <a:cs typeface="Lato"/>
              </a:rPr>
              <a:t>jefferson.anjos.1@aluno.cefet-rj.br</a:t>
            </a: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0C5C7C"/>
                </a:solidFill>
                <a:latin typeface="Lato"/>
                <a:ea typeface="Lato"/>
                <a:cs typeface="Lato"/>
              </a:rPr>
              <a:t>CEFET/RJ</a:t>
            </a:r>
          </a:p>
        </p:txBody>
      </p:sp>
      <p:sp>
        <p:nvSpPr>
          <p:cNvPr id="177" name="Google Shape;177;p22">
            <a:extLst>
              <a:ext uri="{FF2B5EF4-FFF2-40B4-BE49-F238E27FC236}">
                <a16:creationId xmlns:a16="http://schemas.microsoft.com/office/drawing/2014/main" id="{BB1806AA-87F9-44C5-8EE0-45864019F31C}"/>
              </a:ext>
            </a:extLst>
          </p:cNvPr>
          <p:cNvSpPr>
            <a:spLocks noGrp="1"/>
          </p:cNvSpPr>
          <p:nvPr/>
        </p:nvSpPr>
        <p:spPr>
          <a:xfrm>
            <a:off x="438947" y="3833084"/>
            <a:ext cx="5460900" cy="54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C5C7C"/>
                </a:solidFill>
                <a:latin typeface="Play"/>
                <a:ea typeface="Play"/>
                <a:cs typeface="Play"/>
              </a:rPr>
              <a:t>Apoio: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C5C7C"/>
                </a:solidFill>
                <a:latin typeface="Play"/>
                <a:ea typeface="Play"/>
                <a:cs typeface="Play"/>
              </a:rPr>
              <a:t>CEFET/RJ e HUPE - UERJ</a:t>
            </a:r>
          </a:p>
        </p:txBody>
      </p:sp>
    </p:spTree>
    <p:extLst>
      <p:ext uri="{BB962C8B-B14F-4D97-AF65-F5344CB8AC3E}">
        <p14:creationId xmlns:p14="http://schemas.microsoft.com/office/powerpoint/2010/main" val="134879567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2128</Words>
  <Application>Microsoft Office PowerPoint</Application>
  <DocSecurity>0</DocSecurity>
  <PresentationFormat>Apresentação na tela (16:9)</PresentationFormat>
  <Paragraphs>250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Lato</vt:lpstr>
      <vt:lpstr>Play</vt:lpstr>
      <vt:lpstr>Roboto Black</vt:lpstr>
      <vt:lpstr>Simple Light</vt:lpstr>
      <vt:lpstr>Apresentação do PowerPoint</vt:lpstr>
      <vt:lpstr>ROTEIRO</vt:lpstr>
      <vt:lpstr>Apresentação do PowerPoint</vt:lpstr>
      <vt:lpstr>PROBLEMA</vt:lpstr>
      <vt:lpstr>OBJETIVO</vt:lpstr>
      <vt:lpstr>Delimitar o rim reduz falsos achados</vt:lpstr>
      <vt:lpstr>Apresentação do PowerPoint</vt:lpstr>
      <vt:lpstr>Cascata em três etapas encadeadas: </vt:lpstr>
      <vt:lpstr>Cascata em três etapas encadeadas: </vt:lpstr>
      <vt:lpstr>Cascata em três etapas encadeadas: </vt:lpstr>
      <vt:lpstr>Apresentação do PowerPoint</vt:lpstr>
      <vt:lpstr>Dados auditados evitam vazamento</vt:lpstr>
      <vt:lpstr>Dados auditados evitam vazamento</vt:lpstr>
      <vt:lpstr>Dados auditados evitam vazamento</vt:lpstr>
      <vt:lpstr>Apresentação do PowerPoint</vt:lpstr>
      <vt:lpstr>U-Net lidera a segmentação da cápsula</vt:lpstr>
      <vt:lpstr>U-Net lidera a segmentação da cápsula</vt:lpstr>
      <vt:lpstr>Apresentação do PowerPoint</vt:lpstr>
      <vt:lpstr>Consenso prioriza a revisão das pseudomáscaras</vt:lpstr>
      <vt:lpstr>Triagem externa organiza a revisão das pseudomáscaras</vt:lpstr>
      <vt:lpstr>Resultado intrarrenal</vt:lpstr>
      <vt:lpstr>Qualidade de imagem limita a cascata</vt:lpstr>
      <vt:lpstr>Apresentação do PowerPoint</vt:lpstr>
      <vt:lpstr>Conclusão: uma cascata rastreável para análise renal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jefferson silva dos anjos</cp:lastModifiedBy>
  <cp:revision>7</cp:revision>
  <dcterms:created xsi:type="dcterms:W3CDTF">2026-08-15T19:01:11Z</dcterms:created>
  <dcterms:modified xsi:type="dcterms:W3CDTF">2026-08-24T02:26:36Z</dcterms:modified>
</cp:coreProperties>
</file>